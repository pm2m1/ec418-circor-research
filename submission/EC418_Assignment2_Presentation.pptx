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asks which part of a classical heart-sound pipeline carries the murmur information: the cardiac-cycle alignment or the time-frequency transform. Every number on these slides is generated from saved result tables, and every hypothesis was registered before it was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murmur is an extra sound from turbulent blood flow, heard between the first and second heart sounds. Detecting it is a screening step that leads to echocardiography; it is not a diagnosis of the underlying disease. Automatic analysis could help where trained listeners are scarce.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pipelines use cycle-aligned wavelet features and report good results. We separate the two ingredients with matched controls: the same features with and without cardiac-cycle timing, and wavelet versus Fourier bands with identical band edges. We also measure how much the expert segmentation used at test time is worth.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papers report high numbers, but on different scales: different metrics, label sets, units and splits, and some cut their test data at expert annotations. Only the 2025 wavelet baseline was re-evaluated on our folds, so it is the one direct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CirCor is the PhysioNet Challenge 2022 training set with expert murmur labels and segmentation. We use Present versus Absent, verified the official download against PhysioNet's checksums, and group linked visits so that no child appears in both training and test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recording is filtered, segmented into cardiac-cycle phases, described by band features, summarised per patient and classified in WEKA. The controls keep the features but destroy the timing, use whole-signal features, or give the baseline the same span information, so every contrast isolates one ingredient.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wavelet packet transform splits both branches of the filter bank, giving 16 equal 62.5 Hz bands at depth 4. The STFT bands use the same edges and time grid, so the comparison changes only the transform. Real wavelet filters leak between bands, as the packet responses show.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models are WEKA 3.9.7 classifiers called in batch from Python on subject-grouped folds; WEKA's own cross-validation is never used because it would split a child's recordings. One fold run on the WEKA command line reproduces the pipeline's predictions exactly; the Explorer screenshots will show the same fold.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2025 Scientific Reports wavelet baseline was re-implemented from the authors' code and evaluated on our patient-level folds. On this common scale the aligned and automatic models are better. Published numbers from other papers are not on this scale and are not compared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the features but destroying their alignment to the cardiac cycle lowers AUROC in all 25 folds. The diagnostics split the gain exactly: within-span timing explains it, and the expert's choice of spans adds nothing positive. Rows with a star use the expert annotation at test time and are diagnostics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envelope peaks and an HSMM on whole recordings were not good enough. With a learned span detector the point estimate comes within the pre-registered margin of expert labels, but the confidence interval is too wide to call it non-inferior. This is the honest reading of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every labelling, wavelet packets were at most equal to matched STFT bands, and scattering did not help either. This is still a meaningful result: because bands, grid and features were matched, it shows that the transform itself brings no advantage here, so any wavelet advantage reported elsewhere needs another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whole-signal STFT model trained once on all CirCor patients was applied unchanged to an independent paediatric cohort. The subtypes follow the pre-registered physiological order, and the silent defect PFO is at chance. ZCHSound is labelled with CHD diagnoses, not murmurs, and the noisy neonatal subset is at chance.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automatic pipeline's span fraction predicts the class by itself. Once a whole-signal model gets the same information, the remaining advantage has a confidence interval that includes zero, so it is not established. The other limitations are listed plainly.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matters, the transform does not, and a simple whole-signal model transfers to an independent CHD cohort with the expected physiological ordering. The automatic pipeline is close to expert labels on the point estimate but not shown to beat a shortcut-aware baseline. Nothing here supports clinical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steps follow from the limitations: noisy recordings, learned models under the same strict protocol, and an external test with murmur labels. The literature audit was searched and screened but not coded, so it stays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every pre-registered hypothesis family with the range over representations and the recorded verdict; the full table with confidence intervals is in the report appendix. SUPPORTED for H9a means only that the point-estimate rule was met.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80160"/>
            <a:ext cx="10698480" cy="2194560"/>
          </a:xfrm>
          <a:prstGeom prst="rect">
            <a:avLst/>
          </a:prstGeom>
          <a:noFill/>
        </p:spPr>
        <p:txBody>
          <a:bodyPr wrap="square">
            <a:spAutoFit/>
          </a:bodyPr>
          <a:lstStyle/>
          <a:p>
            <a:pPr>
              <a:defRPr sz="3600" b="1">
                <a:solidFill>
                  <a:srgbClr val="1F1F1E"/>
                </a:solidFill>
              </a:defRPr>
            </a:pPr>
            <a:r>
              <a:t>Physiology-Aligned Multiresolution Analysis for Patient-Independent Heart-Murmur Detection</a:t>
            </a:r>
          </a:p>
          <a:p>
            <a:pPr>
              <a:defRPr sz="2600">
                <a:solidFill>
                  <a:srgbClr val="6B6A64"/>
                </a:solidFill>
              </a:defRPr>
            </a:pPr>
            <a:r>
              <a:t>A Comparative Study of Wavelet and Fourier Features</a:t>
            </a:r>
          </a:p>
        </p:txBody>
      </p:sp>
      <p:sp>
        <p:nvSpPr>
          <p:cNvPr id="3" name="TextBox 2"/>
          <p:cNvSpPr txBox="1"/>
          <p:nvPr/>
        </p:nvSpPr>
        <p:spPr>
          <a:xfrm>
            <a:off x="548640" y="3840480"/>
            <a:ext cx="11064240" cy="2560320"/>
          </a:xfrm>
          <a:prstGeom prst="rect">
            <a:avLst/>
          </a:prstGeom>
          <a:noFill/>
        </p:spPr>
        <p:txBody>
          <a:bodyPr wrap="square">
            <a:spAutoFit/>
          </a:bodyPr>
          <a:lstStyle/>
          <a:p>
            <a:pPr>
              <a:spcAft>
                <a:spcPts val="700"/>
              </a:spcAft>
            </a:pPr>
            <a:r>
              <a:rPr sz="2200" b="0">
                <a:solidFill>
                  <a:srgbClr val="1F1F1E"/>
                </a:solidFill>
              </a:rPr>
              <a:t>• Parth Mishra — National Institute of Technology Warangal</a:t>
            </a:r>
          </a:p>
          <a:p>
            <a:pPr>
              <a:spcAft>
                <a:spcPts val="700"/>
              </a:spcAft>
            </a:pPr>
            <a:r>
              <a:rPr sz="2200" b="0">
                <a:solidFill>
                  <a:srgbClr val="1F1F1E"/>
                </a:solidFill>
              </a:rPr>
              <a:t>• EC418 Biomedical Instrumentation and Signal Processing · Mini Research Project</a:t>
            </a:r>
          </a:p>
          <a:p>
            <a:pPr>
              <a:spcAft>
                <a:spcPts val="700"/>
              </a:spcAft>
            </a:pPr>
            <a:r>
              <a:rPr sz="1900" b="0">
                <a:solidFill>
                  <a:srgbClr val="6B6A64"/>
                </a:solidFill>
              </a:rPr>
              <a:t>– [Roll number and course instructor to be added]</a:t>
            </a:r>
          </a:p>
          <a:p>
            <a:pPr>
              <a:spcAft>
                <a:spcPts val="700"/>
              </a:spcAft>
            </a:pPr>
            <a:r>
              <a:rPr sz="1900" b="0">
                <a:solidFill>
                  <a:srgbClr val="6B6A64"/>
                </a:solidFill>
              </a:rPr>
              <a:t>– Prepared with substantial AI assistance (Claude, via Claude Code); see the report's statement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Clinical motivation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5852160" cy="4846320"/>
          </a:xfrm>
          <a:prstGeom prst="rect">
            <a:avLst/>
          </a:prstGeom>
          <a:noFill/>
        </p:spPr>
        <p:txBody>
          <a:bodyPr wrap="square">
            <a:spAutoFit/>
          </a:bodyPr>
          <a:lstStyle/>
          <a:p>
            <a:pPr>
              <a:spcAft>
                <a:spcPts val="700"/>
              </a:spcAft>
            </a:pPr>
            <a:r>
              <a:rPr sz="2200" b="0">
                <a:solidFill>
                  <a:srgbClr val="1F1F1E"/>
                </a:solidFill>
              </a:rPr>
              <a:t>• Murmurs: </a:t>
            </a:r>
            <a:r>
              <a:rPr sz="2200" b="1">
                <a:solidFill>
                  <a:srgbClr val="1F1F1E"/>
                </a:solidFill>
              </a:rPr>
              <a:t>extra sounds from turbulent flow</a:t>
            </a:r>
            <a:r>
              <a:rPr sz="2200" b="0">
                <a:solidFill>
                  <a:srgbClr val="1F1F1E"/>
                </a:solidFill>
              </a:rPr>
              <a:t>, systolic or diastolic</a:t>
            </a:r>
          </a:p>
          <a:p>
            <a:pPr>
              <a:spcAft>
                <a:spcPts val="700"/>
              </a:spcAft>
            </a:pPr>
            <a:r>
              <a:rPr sz="2200" b="0">
                <a:solidFill>
                  <a:srgbClr val="1F1F1E"/>
                </a:solidFill>
              </a:rPr>
              <a:t>• Innocent or a sign of structural disease (septal defects, PDA, valve lesions)</a:t>
            </a:r>
          </a:p>
          <a:p>
            <a:pPr>
              <a:spcAft>
                <a:spcPts val="700"/>
              </a:spcAft>
            </a:pPr>
            <a:r>
              <a:rPr sz="2200" b="0">
                <a:solidFill>
                  <a:srgbClr val="1F1F1E"/>
                </a:solidFill>
              </a:rPr>
              <a:t>• Auscultation is cheap but depends on the listener's skill</a:t>
            </a:r>
          </a:p>
          <a:p>
            <a:pPr>
              <a:spcAft>
                <a:spcPts val="700"/>
              </a:spcAft>
            </a:pPr>
            <a:r>
              <a:rPr sz="2200" b="0">
                <a:solidFill>
                  <a:srgbClr val="1F1F1E"/>
                </a:solidFill>
              </a:rPr>
              <a:t>• Murmur detection = </a:t>
            </a:r>
            <a:r>
              <a:rPr sz="2200" b="1">
                <a:solidFill>
                  <a:srgbClr val="1F1F1E"/>
                </a:solidFill>
              </a:rPr>
              <a:t>screening</a:t>
            </a:r>
            <a:r>
              <a:rPr sz="2200" b="0">
                <a:solidFill>
                  <a:srgbClr val="1F1F1E"/>
                </a:solidFill>
              </a:rPr>
              <a:t>, not diagnosis (echocardiography decides)</a:t>
            </a:r>
          </a:p>
          <a:p>
            <a:pPr>
              <a:spcAft>
                <a:spcPts val="700"/>
              </a:spcAft>
            </a:pPr>
            <a:r>
              <a:rPr sz="2200" b="0">
                <a:solidFill>
                  <a:srgbClr val="1F1F1E"/>
                </a:solidFill>
              </a:rPr>
              <a:t>• Children are recorded at several sites and visits → evaluation must be </a:t>
            </a:r>
            <a:r>
              <a:rPr sz="2200" b="1">
                <a:solidFill>
                  <a:srgbClr val="1F1F1E"/>
                </a:solidFill>
              </a:rPr>
              <a:t>patient-independent</a:t>
            </a:r>
            <a:r>
              <a:rPr sz="2200" b="0">
                <a:solidFill>
                  <a:srgbClr val="1F1F1E"/>
                </a:solidFill>
              </a:rPr>
              <a:t/>
            </a:r>
          </a:p>
        </p:txBody>
      </p:sp>
      <p:pic>
        <p:nvPicPr>
          <p:cNvPr id="5" name="Picture 4" descr="fig1_raw_pcg_present_vs_absent.png"/>
          <p:cNvPicPr>
            <a:picLocks noChangeAspect="1"/>
          </p:cNvPicPr>
          <p:nvPr/>
        </p:nvPicPr>
        <p:blipFill>
          <a:blip r:embed="rId3"/>
          <a:stretch>
            <a:fillRect/>
          </a:stretch>
        </p:blipFill>
        <p:spPr>
          <a:xfrm>
            <a:off x="6492240" y="2423160"/>
            <a:ext cx="5303520" cy="2651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Research question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4846320"/>
          </a:xfrm>
          <a:prstGeom prst="rect">
            <a:avLst/>
          </a:prstGeom>
          <a:noFill/>
        </p:spPr>
        <p:txBody>
          <a:bodyPr wrap="square">
            <a:spAutoFit/>
          </a:bodyPr>
          <a:lstStyle/>
          <a:p>
            <a:pPr>
              <a:spcAft>
                <a:spcPts val="700"/>
              </a:spcAft>
            </a:pPr>
            <a:r>
              <a:rPr sz="2400" b="0">
                <a:solidFill>
                  <a:srgbClr val="1F1F1E"/>
                </a:solidFill>
              </a:rPr>
              <a:t>• Does </a:t>
            </a:r>
            <a:r>
              <a:rPr sz="2400" b="1">
                <a:solidFill>
                  <a:srgbClr val="1F1F1E"/>
                </a:solidFill>
              </a:rPr>
              <a:t>cardiac-cycle timing</a:t>
            </a:r>
            <a:r>
              <a:rPr sz="2400" b="0">
                <a:solidFill>
                  <a:srgbClr val="1F1F1E"/>
                </a:solidFill>
              </a:rPr>
              <a:t> improve patient-level murmur detection?</a:t>
            </a:r>
          </a:p>
          <a:p>
            <a:pPr>
              <a:spcAft>
                <a:spcPts val="700"/>
              </a:spcAft>
            </a:pPr>
            <a:r>
              <a:rPr sz="2400" b="0">
                <a:solidFill>
                  <a:srgbClr val="1F1F1E"/>
                </a:solidFill>
              </a:rPr>
              <a:t>• Does the </a:t>
            </a:r>
            <a:r>
              <a:rPr sz="2400" b="1">
                <a:solidFill>
                  <a:srgbClr val="1F1F1E"/>
                </a:solidFill>
              </a:rPr>
              <a:t>transform</a:t>
            </a:r>
            <a:r>
              <a:rPr sz="2400" b="0">
                <a:solidFill>
                  <a:srgbClr val="1F1F1E"/>
                </a:solidFill>
              </a:rPr>
              <a:t> matter — wavelet packets vs matched STFT bands vs scattering?</a:t>
            </a:r>
          </a:p>
          <a:p>
            <a:pPr>
              <a:spcAft>
                <a:spcPts val="700"/>
              </a:spcAft>
            </a:pPr>
            <a:r>
              <a:rPr sz="2400" b="0">
                <a:solidFill>
                  <a:srgbClr val="1F1F1E"/>
                </a:solidFill>
              </a:rPr>
              <a:t>• Does it survive </a:t>
            </a:r>
            <a:r>
              <a:rPr sz="2400" b="1">
                <a:solidFill>
                  <a:srgbClr val="1F1F1E"/>
                </a:solidFill>
              </a:rPr>
              <a:t>automatic segmentation</a:t>
            </a:r>
            <a:r>
              <a:rPr sz="2400" b="0">
                <a:solidFill>
                  <a:srgbClr val="1F1F1E"/>
                </a:solidFill>
              </a:rPr>
              <a:t>, without the expert labels?</a:t>
            </a:r>
          </a:p>
          <a:p>
            <a:pPr>
              <a:spcAft>
                <a:spcPts val="700"/>
              </a:spcAft>
            </a:pPr>
            <a:r>
              <a:rPr sz="2400" b="0">
                <a:solidFill>
                  <a:srgbClr val="1F1F1E"/>
                </a:solidFill>
              </a:rPr>
              <a:t>• Is an automatic gain real, or a </a:t>
            </a:r>
            <a:r>
              <a:rPr sz="2400" b="1">
                <a:solidFill>
                  <a:srgbClr val="1F1F1E"/>
                </a:solidFill>
              </a:rPr>
              <a:t>shortcut</a:t>
            </a:r>
            <a:r>
              <a:rPr sz="2400" b="0">
                <a:solidFill>
                  <a:srgbClr val="1F1F1E"/>
                </a:solidFill>
              </a:rPr>
              <a:t> from which spans are kept?</a:t>
            </a:r>
          </a:p>
          <a:p>
            <a:pPr>
              <a:spcAft>
                <a:spcPts val="700"/>
              </a:spcAft>
            </a:pPr>
            <a:r>
              <a:rPr sz="2400" b="0">
                <a:solidFill>
                  <a:srgbClr val="1F1F1E"/>
                </a:solidFill>
              </a:rPr>
              <a:t>• Does a CirCor model </a:t>
            </a:r>
            <a:r>
              <a:rPr sz="2400" b="1">
                <a:solidFill>
                  <a:srgbClr val="1F1F1E"/>
                </a:solidFill>
              </a:rPr>
              <a:t>transfer</a:t>
            </a:r>
            <a:r>
              <a:rPr sz="2400" b="0">
                <a:solidFill>
                  <a:srgbClr val="1F1F1E"/>
                </a:solidFill>
              </a:rPr>
              <a:t> to an independent cohort?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Related work (2024–2026)</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Values as reported by the authors (abstract or stated section); references/g3b/case_study_numbers.csv.</a:t>
            </a:r>
          </a:p>
        </p:txBody>
      </p:sp>
      <p:graphicFrame>
        <p:nvGraphicFramePr>
          <p:cNvPr id="5" name="Table 4"/>
          <p:cNvGraphicFramePr>
            <a:graphicFrameLocks noGrp="1"/>
          </p:cNvGraphicFramePr>
          <p:nvPr/>
        </p:nvGraphicFramePr>
        <p:xfrm>
          <a:off x="548640" y="1417320"/>
          <a:ext cx="11064240" cy="4480560"/>
        </p:xfrm>
        <a:graphic>
          <a:graphicData uri="http://schemas.openxmlformats.org/drawingml/2006/table">
            <a:tbl>
              <a:tblPr firstRow="1" bandRow="1">
                <a:tableStyleId>{5C22544A-7EE6-4342-B048-85BDC9FD1C3A}</a:tableStyleId>
              </a:tblPr>
              <a:tblGrid>
                <a:gridCol w="3108960"/>
                <a:gridCol w="3291840"/>
                <a:gridCol w="2194560"/>
                <a:gridCol w="2468880"/>
              </a:tblGrid>
              <a:tr h="560070">
                <a:tc>
                  <a:txBody>
                    <a:bodyPr/>
                    <a:lstStyle/>
                    <a:p>
                      <a:pPr>
                        <a:spcBef>
                          <a:spcPts val="0"/>
                        </a:spcBef>
                        <a:spcAft>
                          <a:spcPts val="0"/>
                        </a:spcAft>
                        <a:defRPr sz="1800" b="1"/>
                      </a:pPr>
                      <a:r>
                        <a:t>Work</a:t>
                      </a:r>
                    </a:p>
                  </a:txBody>
                  <a:tcPr marT="18288" marB="18288"/>
                </a:tc>
                <a:tc>
                  <a:txBody>
                    <a:bodyPr/>
                    <a:lstStyle/>
                    <a:p>
                      <a:pPr>
                        <a:spcBef>
                          <a:spcPts val="0"/>
                        </a:spcBef>
                        <a:spcAft>
                          <a:spcPts val="0"/>
                        </a:spcAft>
                        <a:defRPr sz="1800" b="1"/>
                      </a:pPr>
                      <a:r>
                        <a:t>Approach</a:t>
                      </a:r>
                    </a:p>
                  </a:txBody>
                  <a:tcPr marT="18288" marB="18288"/>
                </a:tc>
                <a:tc>
                  <a:txBody>
                    <a:bodyPr/>
                    <a:lstStyle/>
                    <a:p>
                      <a:pPr>
                        <a:spcBef>
                          <a:spcPts val="0"/>
                        </a:spcBef>
                        <a:spcAft>
                          <a:spcPts val="0"/>
                        </a:spcAft>
                        <a:defRPr sz="1800" b="1"/>
                      </a:pPr>
                      <a:r>
                        <a:t>Expert seg. at test</a:t>
                      </a:r>
                    </a:p>
                  </a:txBody>
                  <a:tcPr marT="18288" marB="18288"/>
                </a:tc>
                <a:tc>
                  <a:txBody>
                    <a:bodyPr/>
                    <a:lstStyle/>
                    <a:p>
                      <a:pPr>
                        <a:spcBef>
                          <a:spcPts val="0"/>
                        </a:spcBef>
                        <a:spcAft>
                          <a:spcPts val="0"/>
                        </a:spcAft>
                        <a:defRPr sz="1800" b="1"/>
                      </a:pPr>
                      <a:r>
                        <a:t>Headline (as reported)</a:t>
                      </a:r>
                    </a:p>
                  </a:txBody>
                  <a:tcPr marT="18288" marB="18288"/>
                </a:tc>
              </a:tr>
              <a:tr h="560070">
                <a:tc>
                  <a:txBody>
                    <a:bodyPr/>
                    <a:lstStyle/>
                    <a:p>
                      <a:pPr>
                        <a:spcBef>
                          <a:spcPts val="0"/>
                        </a:spcBef>
                        <a:spcAft>
                          <a:spcPts val="0"/>
                        </a:spcAft>
                        <a:defRPr sz="1800" b="0"/>
                      </a:pPr>
                      <a:r>
                        <a:t>Vimalajeewa 2025, Sci Rep</a:t>
                      </a:r>
                    </a:p>
                  </a:txBody>
                  <a:tcPr marT="18288" marB="18288"/>
                </a:tc>
                <a:tc>
                  <a:txBody>
                    <a:bodyPr/>
                    <a:lstStyle/>
                    <a:p>
                      <a:pPr>
                        <a:spcBef>
                          <a:spcPts val="0"/>
                        </a:spcBef>
                        <a:spcAft>
                          <a:spcPts val="0"/>
                        </a:spcAft>
                        <a:defRPr sz="1800" b="0"/>
                      </a:pPr>
                      <a:r>
                        <a:t>multiscale wavelet features</a:t>
                      </a:r>
                    </a:p>
                  </a:txBody>
                  <a:tcPr marT="18288" marB="18288"/>
                </a:tc>
                <a:tc>
                  <a:txBody>
                    <a:bodyPr/>
                    <a:lstStyle/>
                    <a:p>
                      <a:pPr>
                        <a:spcBef>
                          <a:spcPts val="0"/>
                        </a:spcBef>
                        <a:spcAft>
                          <a:spcPts val="0"/>
                        </a:spcAft>
                        <a:defRPr sz="1800" b="0"/>
                      </a:pPr>
                      <a:r>
                        <a:t>no</a:t>
                      </a:r>
                    </a:p>
                  </a:txBody>
                  <a:tcPr marT="18288" marB="18288"/>
                </a:tc>
                <a:tc>
                  <a:txBody>
                    <a:bodyPr/>
                    <a:lstStyle/>
                    <a:p>
                      <a:pPr>
                        <a:spcBef>
                          <a:spcPts val="0"/>
                        </a:spcBef>
                        <a:spcAft>
                          <a:spcPts val="0"/>
                        </a:spcAft>
                        <a:defRPr sz="1800" b="0"/>
                      </a:pPr>
                      <a:r>
                        <a:t>re-evaluated on our folds</a:t>
                      </a:r>
                    </a:p>
                  </a:txBody>
                  <a:tcPr marT="18288" marB="18288"/>
                </a:tc>
              </a:tr>
              <a:tr h="560070">
                <a:tc>
                  <a:txBody>
                    <a:bodyPr/>
                    <a:lstStyle/>
                    <a:p>
                      <a:pPr>
                        <a:spcBef>
                          <a:spcPts val="0"/>
                        </a:spcBef>
                        <a:spcAft>
                          <a:spcPts val="0"/>
                        </a:spcAft>
                        <a:defRPr sz="1800" b="0"/>
                      </a:pPr>
                      <a:r>
                        <a:t>Niizumi 2024, EMBC</a:t>
                      </a:r>
                    </a:p>
                  </a:txBody>
                  <a:tcPr marT="18288" marB="18288"/>
                </a:tc>
                <a:tc>
                  <a:txBody>
                    <a:bodyPr/>
                    <a:lstStyle/>
                    <a:p>
                      <a:pPr>
                        <a:spcBef>
                          <a:spcPts val="0"/>
                        </a:spcBef>
                        <a:spcAft>
                          <a:spcPts val="0"/>
                        </a:spcAft>
                        <a:defRPr sz="1800" b="0"/>
                      </a:pPr>
                      <a:r>
                        <a:t>pre-trained audio representations</a:t>
                      </a:r>
                    </a:p>
                  </a:txBody>
                  <a:tcPr marT="18288" marB="18288"/>
                </a:tc>
                <a:tc>
                  <a:txBody>
                    <a:bodyPr/>
                    <a:lstStyle/>
                    <a:p>
                      <a:pPr>
                        <a:spcBef>
                          <a:spcPts val="0"/>
                        </a:spcBef>
                        <a:spcAft>
                          <a:spcPts val="0"/>
                        </a:spcAft>
                        <a:defRPr sz="1800" b="0"/>
                      </a:pPr>
                      <a:r>
                        <a:t>no</a:t>
                      </a:r>
                    </a:p>
                  </a:txBody>
                  <a:tcPr marT="18288" marB="18288"/>
                </a:tc>
                <a:tc>
                  <a:txBody>
                    <a:bodyPr/>
                    <a:lstStyle/>
                    <a:p>
                      <a:pPr>
                        <a:spcBef>
                          <a:spcPts val="0"/>
                        </a:spcBef>
                        <a:spcAft>
                          <a:spcPts val="0"/>
                        </a:spcAft>
                        <a:defRPr sz="1800" b="0"/>
                      </a:pPr>
                      <a:r>
                        <a:t>W.acc 0.832</a:t>
                      </a:r>
                    </a:p>
                  </a:txBody>
                  <a:tcPr marT="18288" marB="18288"/>
                </a:tc>
              </a:tr>
              <a:tr h="560070">
                <a:tc>
                  <a:txBody>
                    <a:bodyPr/>
                    <a:lstStyle/>
                    <a:p>
                      <a:pPr>
                        <a:spcBef>
                          <a:spcPts val="0"/>
                        </a:spcBef>
                        <a:spcAft>
                          <a:spcPts val="0"/>
                        </a:spcAft>
                        <a:defRPr sz="1800" b="0"/>
                      </a:pPr>
                      <a:r>
                        <a:t>Nie 2024, MLSP</a:t>
                      </a:r>
                    </a:p>
                  </a:txBody>
                  <a:tcPr marT="18288" marB="18288"/>
                </a:tc>
                <a:tc>
                  <a:txBody>
                    <a:bodyPr/>
                    <a:lstStyle/>
                    <a:p>
                      <a:pPr>
                        <a:spcBef>
                          <a:spcPts val="0"/>
                        </a:spcBef>
                        <a:spcAft>
                          <a:spcPts val="0"/>
                        </a:spcAft>
                        <a:defRPr sz="1800" b="0"/>
                      </a:pPr>
                      <a:r>
                        <a:t>2-D CNN, 5-s snippets</a:t>
                      </a:r>
                    </a:p>
                  </a:txBody>
                  <a:tcPr marT="18288" marB="18288"/>
                </a:tc>
                <a:tc>
                  <a:txBody>
                    <a:bodyPr/>
                    <a:lstStyle/>
                    <a:p>
                      <a:pPr>
                        <a:spcBef>
                          <a:spcPts val="0"/>
                        </a:spcBef>
                        <a:spcAft>
                          <a:spcPts val="0"/>
                        </a:spcAft>
                        <a:defRPr sz="1800" b="0"/>
                      </a:pPr>
                      <a:r>
                        <a:t>yes (annotated periods)</a:t>
                      </a:r>
                    </a:p>
                  </a:txBody>
                  <a:tcPr marT="18288" marB="18288"/>
                </a:tc>
                <a:tc>
                  <a:txBody>
                    <a:bodyPr/>
                    <a:lstStyle/>
                    <a:p>
                      <a:pPr>
                        <a:spcBef>
                          <a:spcPts val="0"/>
                        </a:spcBef>
                        <a:spcAft>
                          <a:spcPts val="0"/>
                        </a:spcAft>
                        <a:defRPr sz="1800" b="0"/>
                      </a:pPr>
                      <a:r>
                        <a:t>accuracy 97.49 % (snippets)</a:t>
                      </a:r>
                    </a:p>
                  </a:txBody>
                  <a:tcPr marT="18288" marB="18288"/>
                </a:tc>
              </a:tr>
              <a:tr h="560070">
                <a:tc>
                  <a:txBody>
                    <a:bodyPr/>
                    <a:lstStyle/>
                    <a:p>
                      <a:pPr>
                        <a:spcBef>
                          <a:spcPts val="0"/>
                        </a:spcBef>
                        <a:spcAft>
                          <a:spcPts val="0"/>
                        </a:spcAft>
                        <a:defRPr sz="1800" b="0"/>
                      </a:pPr>
                      <a:r>
                        <a:t>Hong 2025, IEEE JBHI</a:t>
                      </a:r>
                    </a:p>
                  </a:txBody>
                  <a:tcPr marT="18288" marB="18288"/>
                </a:tc>
                <a:tc>
                  <a:txBody>
                    <a:bodyPr/>
                    <a:lstStyle/>
                    <a:p>
                      <a:pPr>
                        <a:spcBef>
                          <a:spcPts val="0"/>
                        </a:spcBef>
                        <a:spcAft>
                          <a:spcPts val="0"/>
                        </a:spcAft>
                        <a:defRPr sz="1800" b="0"/>
                      </a:pPr>
                      <a:r>
                        <a:t>periodic-pattern transformer</a:t>
                      </a:r>
                    </a:p>
                  </a:txBody>
                  <a:tcPr marT="18288" marB="18288"/>
                </a:tc>
                <a:tc>
                  <a:txBody>
                    <a:bodyPr/>
                    <a:lstStyle/>
                    <a:p>
                      <a:pPr>
                        <a:spcBef>
                          <a:spcPts val="0"/>
                        </a:spcBef>
                        <a:spcAft>
                          <a:spcPts val="0"/>
                        </a:spcAft>
                        <a:defRPr sz="1800" b="0"/>
                      </a:pPr>
                      <a:r>
                        <a:t>no</a:t>
                      </a:r>
                    </a:p>
                  </a:txBody>
                  <a:tcPr marT="18288" marB="18288"/>
                </a:tc>
                <a:tc>
                  <a:txBody>
                    <a:bodyPr/>
                    <a:lstStyle/>
                    <a:p>
                      <a:pPr>
                        <a:spcBef>
                          <a:spcPts val="0"/>
                        </a:spcBef>
                        <a:spcAft>
                          <a:spcPts val="0"/>
                        </a:spcAft>
                        <a:defRPr sz="1800" b="0"/>
                      </a:pPr>
                      <a:r>
                        <a:t>W.acc 84.27 %</a:t>
                      </a:r>
                    </a:p>
                  </a:txBody>
                  <a:tcPr marT="18288" marB="18288"/>
                </a:tc>
              </a:tr>
              <a:tr h="560070">
                <a:tc>
                  <a:txBody>
                    <a:bodyPr/>
                    <a:lstStyle/>
                    <a:p>
                      <a:pPr>
                        <a:spcBef>
                          <a:spcPts val="0"/>
                        </a:spcBef>
                        <a:spcAft>
                          <a:spcPts val="0"/>
                        </a:spcAft>
                        <a:defRPr sz="1800" b="0"/>
                      </a:pPr>
                      <a:r>
                        <a:t>Kutlu &amp; Çolak 2026, J Clin Med</a:t>
                      </a:r>
                    </a:p>
                  </a:txBody>
                  <a:tcPr marT="18288" marB="18288"/>
                </a:tc>
                <a:tc>
                  <a:txBody>
                    <a:bodyPr/>
                    <a:lstStyle/>
                    <a:p>
                      <a:pPr>
                        <a:spcBef>
                          <a:spcPts val="0"/>
                        </a:spcBef>
                        <a:spcAft>
                          <a:spcPts val="0"/>
                        </a:spcAft>
                        <a:defRPr sz="1800" b="0"/>
                      </a:pPr>
                      <a:r>
                        <a:t>external zero-shot tests</a:t>
                      </a:r>
                    </a:p>
                  </a:txBody>
                  <a:tcPr marT="18288" marB="18288"/>
                </a:tc>
                <a:tc>
                  <a:txBody>
                    <a:bodyPr/>
                    <a:lstStyle/>
                    <a:p>
                      <a:pPr>
                        <a:spcBef>
                          <a:spcPts val="0"/>
                        </a:spcBef>
                        <a:spcAft>
                          <a:spcPts val="0"/>
                        </a:spcAft>
                        <a:defRPr sz="1800" b="0"/>
                      </a:pPr>
                      <a:r>
                        <a:t>no</a:t>
                      </a:r>
                    </a:p>
                  </a:txBody>
                  <a:tcPr marT="18288" marB="18288"/>
                </a:tc>
                <a:tc>
                  <a:txBody>
                    <a:bodyPr/>
                    <a:lstStyle/>
                    <a:p>
                      <a:pPr>
                        <a:spcBef>
                          <a:spcPts val="0"/>
                        </a:spcBef>
                        <a:spcAft>
                          <a:spcPts val="0"/>
                        </a:spcAft>
                        <a:defRPr sz="1800" b="0"/>
                      </a:pPr>
                      <a:r>
                        <a:t>external AUROC 0.738 / 0.985</a:t>
                      </a:r>
                    </a:p>
                  </a:txBody>
                  <a:tcPr marT="18288" marB="18288"/>
                </a:tc>
              </a:tr>
              <a:tr h="560070">
                <a:tc>
                  <a:txBody>
                    <a:bodyPr/>
                    <a:lstStyle/>
                    <a:p>
                      <a:pPr>
                        <a:spcBef>
                          <a:spcPts val="0"/>
                        </a:spcBef>
                        <a:spcAft>
                          <a:spcPts val="0"/>
                        </a:spcAft>
                        <a:defRPr sz="1800" b="0"/>
                      </a:pPr>
                      <a:r>
                        <a:t>Ladislaus 2026, arXiv</a:t>
                      </a:r>
                    </a:p>
                  </a:txBody>
                  <a:tcPr marT="18288" marB="18288"/>
                </a:tc>
                <a:tc>
                  <a:txBody>
                    <a:bodyPr/>
                    <a:lstStyle/>
                    <a:p>
                      <a:pPr>
                        <a:spcBef>
                          <a:spcPts val="0"/>
                        </a:spcBef>
                        <a:spcAft>
                          <a:spcPts val="0"/>
                        </a:spcAft>
                        <a:defRPr sz="1800" b="0"/>
                      </a:pPr>
                      <a:r>
                        <a:t>noise robustness, aggregation</a:t>
                      </a:r>
                    </a:p>
                  </a:txBody>
                  <a:tcPr marT="18288" marB="18288"/>
                </a:tc>
                <a:tc>
                  <a:txBody>
                    <a:bodyPr/>
                    <a:lstStyle/>
                    <a:p>
                      <a:pPr>
                        <a:spcBef>
                          <a:spcPts val="0"/>
                        </a:spcBef>
                        <a:spcAft>
                          <a:spcPts val="0"/>
                        </a:spcAft>
                        <a:defRPr sz="1800" b="0"/>
                      </a:pPr>
                      <a:r>
                        <a:t>no</a:t>
                      </a:r>
                    </a:p>
                  </a:txBody>
                  <a:tcPr marT="18288" marB="18288"/>
                </a:tc>
                <a:tc>
                  <a:txBody>
                    <a:bodyPr/>
                    <a:lstStyle/>
                    <a:p>
                      <a:pPr>
                        <a:spcBef>
                          <a:spcPts val="0"/>
                        </a:spcBef>
                        <a:spcAft>
                          <a:spcPts val="0"/>
                        </a:spcAft>
                        <a:defRPr sz="1800" b="0"/>
                      </a:pPr>
                      <a:r>
                        <a:t>3-class W.acc 0.8021</a:t>
                      </a:r>
                    </a:p>
                  </a:txBody>
                  <a:tcPr marT="18288" marB="18288"/>
                </a:tc>
              </a:tr>
              <a:tr h="560070">
                <a:tc>
                  <a:txBody>
                    <a:bodyPr/>
                    <a:lstStyle/>
                    <a:p>
                      <a:pPr>
                        <a:spcBef>
                          <a:spcPts val="0"/>
                        </a:spcBef>
                        <a:spcAft>
                          <a:spcPts val="0"/>
                        </a:spcAft>
                        <a:defRPr sz="1800" b="0"/>
                      </a:pPr>
                      <a:r>
                        <a:t>Nogueira 2026, arXiv</a:t>
                      </a:r>
                    </a:p>
                  </a:txBody>
                  <a:tcPr marT="18288" marB="18288"/>
                </a:tc>
                <a:tc>
                  <a:txBody>
                    <a:bodyPr/>
                    <a:lstStyle/>
                    <a:p>
                      <a:pPr>
                        <a:spcBef>
                          <a:spcPts val="0"/>
                        </a:spcBef>
                        <a:spcAft>
                          <a:spcPts val="0"/>
                        </a:spcAft>
                        <a:defRPr sz="1800" b="0"/>
                      </a:pPr>
                      <a:r>
                        <a:t>multi-channel CNN</a:t>
                      </a:r>
                    </a:p>
                  </a:txBody>
                  <a:tcPr marT="18288" marB="18288"/>
                </a:tc>
                <a:tc>
                  <a:txBody>
                    <a:bodyPr/>
                    <a:lstStyle/>
                    <a:p>
                      <a:pPr>
                        <a:spcBef>
                          <a:spcPts val="0"/>
                        </a:spcBef>
                        <a:spcAft>
                          <a:spcPts val="0"/>
                        </a:spcAft>
                        <a:defRPr sz="1800" b="0"/>
                      </a:pPr>
                      <a:r>
                        <a:t>yes (expert S1 onsets)</a:t>
                      </a:r>
                    </a:p>
                  </a:txBody>
                  <a:tcPr marT="18288" marB="18288"/>
                </a:tc>
                <a:tc>
                  <a:txBody>
                    <a:bodyPr/>
                    <a:lstStyle/>
                    <a:p>
                      <a:pPr>
                        <a:spcBef>
                          <a:spcPts val="0"/>
                        </a:spcBef>
                        <a:spcAft>
                          <a:spcPts val="0"/>
                        </a:spcAft>
                        <a:defRPr sz="1800" b="0"/>
                      </a:pPr>
                      <a:r>
                        <a:t>(Se+Sp)/2 0.965</a:t>
                      </a:r>
                    </a:p>
                  </a:txBody>
                  <a:tcPr marT="18288" marB="18288"/>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Dataset and patient independence</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Oliveira et al., IEEE JBHI 2022; physionet.org/content/circor-heart-sound/1.0.3; Jia et al., IEEE TBME 2024 (ZCHSound).</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700"/>
              </a:spcAft>
            </a:pPr>
            <a:r>
              <a:rPr sz="2100" b="1">
                <a:solidFill>
                  <a:srgbClr val="1F1F1E"/>
                </a:solidFill>
              </a:rPr>
              <a:t>• CirCor DigiScope v1.0.3: </a:t>
            </a:r>
            <a:r>
              <a:rPr sz="2100" b="0">
                <a:solidFill>
                  <a:srgbClr val="1F1F1E"/>
                </a:solidFill>
              </a:rPr>
              <a:t>942 patients, 3,163 recordings, 4 sites, 4 kHz</a:t>
            </a:r>
          </a:p>
          <a:p>
            <a:pPr>
              <a:spcAft>
                <a:spcPts val="700"/>
              </a:spcAft>
            </a:pPr>
            <a:r>
              <a:rPr sz="2100" b="1">
                <a:solidFill>
                  <a:srgbClr val="1F1F1E"/>
                </a:solidFill>
              </a:rPr>
              <a:t>• Task: </a:t>
            </a:r>
            <a:r>
              <a:rPr sz="2100" b="0">
                <a:solidFill>
                  <a:srgbClr val="1F1F1E"/>
                </a:solidFill>
              </a:rPr>
              <a:t>874 patients (179 Present, 695 Absent); Unknown excluded</a:t>
            </a:r>
          </a:p>
          <a:p>
            <a:pPr>
              <a:spcAft>
                <a:spcPts val="700"/>
              </a:spcAft>
            </a:pPr>
            <a:r>
              <a:rPr sz="2100" b="1">
                <a:solidFill>
                  <a:srgbClr val="1F1F1E"/>
                </a:solidFill>
              </a:rPr>
              <a:t>• Linked visits share an Additional ID → </a:t>
            </a:r>
            <a:r>
              <a:rPr sz="2100" b="0">
                <a:solidFill>
                  <a:srgbClr val="1F1F1E"/>
                </a:solidFill>
              </a:rPr>
              <a:t>816 subjects; folds never split a subject</a:t>
            </a:r>
          </a:p>
          <a:p>
            <a:pPr>
              <a:spcAft>
                <a:spcPts val="700"/>
              </a:spcAft>
            </a:pPr>
            <a:r>
              <a:rPr sz="2100" b="1">
                <a:solidFill>
                  <a:srgbClr val="1F1F1E"/>
                </a:solidFill>
              </a:rPr>
              <a:t>• 5 repeats × 5 subject-grouped folds, </a:t>
            </a:r>
            <a:r>
              <a:rPr sz="2100" b="0">
                <a:solidFill>
                  <a:srgbClr val="1F1F1E"/>
                </a:solidFill>
              </a:rPr>
              <a:t>fixed before any model ran</a:t>
            </a:r>
          </a:p>
          <a:p>
            <a:pPr>
              <a:spcAft>
                <a:spcPts val="700"/>
              </a:spcAft>
            </a:pPr>
            <a:r>
              <a:rPr sz="2100" b="0">
                <a:solidFill>
                  <a:srgbClr val="1F1F1E"/>
                </a:solidFill>
              </a:rPr>
              <a:t>• Official PhysioNet download verified file by file (10,434 checksums)</a:t>
            </a:r>
          </a:p>
          <a:p>
            <a:pPr>
              <a:spcAft>
                <a:spcPts val="700"/>
              </a:spcAft>
            </a:pPr>
            <a:r>
              <a:rPr sz="2100" b="1">
                <a:solidFill>
                  <a:srgbClr val="1F1F1E"/>
                </a:solidFill>
              </a:rPr>
              <a:t>• External: ZCHSound, </a:t>
            </a:r>
            <a:r>
              <a:rPr sz="2100" b="0">
                <a:solidFill>
                  <a:srgbClr val="1F1F1E"/>
                </a:solidFill>
              </a:rPr>
              <a:t>941 clean recordings (408 CHD) + 318 noisy; CHD labels, not murmurs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Methodology</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pipeline.png"/>
          <p:cNvPicPr>
            <a:picLocks noChangeAspect="1"/>
          </p:cNvPicPr>
          <p:nvPr/>
        </p:nvPicPr>
        <p:blipFill>
          <a:blip r:embed="rId3"/>
          <a:stretch>
            <a:fillRect/>
          </a:stretch>
        </p:blipFill>
        <p:spPr>
          <a:xfrm>
            <a:off x="365760" y="1411312"/>
            <a:ext cx="11430000" cy="3303854"/>
          </a:xfrm>
          <a:prstGeom prst="rect">
            <a:avLst/>
          </a:prstGeom>
        </p:spPr>
      </p:pic>
      <p:sp>
        <p:nvSpPr>
          <p:cNvPr id="5" name="TextBox 4"/>
          <p:cNvSpPr txBox="1"/>
          <p:nvPr/>
        </p:nvSpPr>
        <p:spPr>
          <a:xfrm>
            <a:off x="548640" y="4892040"/>
            <a:ext cx="11064240" cy="1371600"/>
          </a:xfrm>
          <a:prstGeom prst="rect">
            <a:avLst/>
          </a:prstGeom>
          <a:noFill/>
        </p:spPr>
        <p:txBody>
          <a:bodyPr wrap="square">
            <a:spAutoFit/>
          </a:bodyPr>
          <a:lstStyle/>
          <a:p>
            <a:pPr>
              <a:spcAft>
                <a:spcPts val="700"/>
              </a:spcAft>
            </a:pPr>
            <a:r>
              <a:rPr sz="2000" b="1">
                <a:solidFill>
                  <a:srgbClr val="1F1F1E"/>
                </a:solidFill>
              </a:rPr>
              <a:t>• Preprocessing: </a:t>
            </a:r>
            <a:r>
              <a:rPr sz="2000" b="0">
                <a:solidFill>
                  <a:srgbClr val="1F1F1E"/>
                </a:solidFill>
              </a:rPr>
              <a:t>2 kHz, band-pass 25–900 Hz, z-score</a:t>
            </a:r>
          </a:p>
          <a:p>
            <a:pPr>
              <a:spcAft>
                <a:spcPts val="700"/>
              </a:spcAft>
            </a:pPr>
            <a:r>
              <a:rPr sz="2000" b="1">
                <a:solidFill>
                  <a:srgbClr val="1F1F1E"/>
                </a:solidFill>
              </a:rPr>
              <a:t>• Segmentation: </a:t>
            </a:r>
            <a:r>
              <a:rPr sz="2000" b="0">
                <a:solidFill>
                  <a:srgbClr val="1F1F1E"/>
                </a:solidFill>
              </a:rPr>
              <a:t>expert labels (oracle), envelope peaks, LR-HSMM, or HSMM + learned span detector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Wavelet decomposition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Daubechies db4 (8 taps), depth J = 4, fs = 2 kHz; band width fs / 2^(J+1). Scattering: Andén &amp; Mallat 2014; kymatio.</a:t>
            </a:r>
          </a:p>
        </p:txBody>
      </p:sp>
      <p:sp>
        <p:nvSpPr>
          <p:cNvPr id="5" name="TextBox 4"/>
          <p:cNvSpPr txBox="1"/>
          <p:nvPr/>
        </p:nvSpPr>
        <p:spPr>
          <a:xfrm>
            <a:off x="548640" y="1325880"/>
            <a:ext cx="11064240" cy="2194560"/>
          </a:xfrm>
          <a:prstGeom prst="rect">
            <a:avLst/>
          </a:prstGeom>
          <a:noFill/>
        </p:spPr>
        <p:txBody>
          <a:bodyPr wrap="square">
            <a:spAutoFit/>
          </a:bodyPr>
          <a:lstStyle/>
          <a:p>
            <a:pPr>
              <a:spcAft>
                <a:spcPts val="700"/>
              </a:spcAft>
            </a:pPr>
            <a:r>
              <a:rPr sz="2100" b="1">
                <a:solidFill>
                  <a:srgbClr val="1F1F1E"/>
                </a:solidFill>
              </a:rPr>
              <a:t>• DWT: </a:t>
            </a:r>
            <a:r>
              <a:rPr sz="2100" b="0">
                <a:solidFill>
                  <a:srgbClr val="1F1F1E"/>
                </a:solidFill>
              </a:rPr>
              <a:t>low-pass h, high-pass g, downsample by 2 at each level</a:t>
            </a:r>
          </a:p>
          <a:p>
            <a:pPr>
              <a:spcAft>
                <a:spcPts val="700"/>
              </a:spcAft>
            </a:pPr>
            <a:r>
              <a:rPr sz="2100" b="1">
                <a:solidFill>
                  <a:srgbClr val="1F1F1E"/>
                </a:solidFill>
              </a:rPr>
              <a:t>• WPD: </a:t>
            </a:r>
            <a:r>
              <a:rPr sz="2100" b="0">
                <a:solidFill>
                  <a:srgbClr val="1F1F1E"/>
                </a:solidFill>
              </a:rPr>
              <a:t>split both branches → 16 bands of 62.5 Hz, 8 ms grid</a:t>
            </a:r>
          </a:p>
          <a:p>
            <a:pPr>
              <a:spcAft>
                <a:spcPts val="700"/>
              </a:spcAft>
            </a:pPr>
            <a:r>
              <a:rPr sz="2100" b="1">
                <a:solidFill>
                  <a:srgbClr val="1F1F1E"/>
                </a:solidFill>
              </a:rPr>
              <a:t>• STFT bands: </a:t>
            </a:r>
            <a:r>
              <a:rPr sz="2100" b="0">
                <a:solidFill>
                  <a:srgbClr val="1F1F1E"/>
                </a:solidFill>
              </a:rPr>
              <a:t>same 16 edges, same grid, same dimension</a:t>
            </a:r>
          </a:p>
          <a:p>
            <a:pPr>
              <a:spcAft>
                <a:spcPts val="700"/>
              </a:spcAft>
            </a:pPr>
            <a:r>
              <a:rPr sz="2100" b="1">
                <a:solidFill>
                  <a:srgbClr val="1F1F1E"/>
                </a:solidFill>
              </a:rPr>
              <a:t>• Features per band: </a:t>
            </a:r>
            <a:r>
              <a:rPr sz="2100" b="0">
                <a:solidFill>
                  <a:srgbClr val="1F1F1E"/>
                </a:solidFill>
              </a:rPr>
              <a:t>systolic vs S1, systolic vs diastolic energy</a:t>
            </a:r>
          </a:p>
        </p:txBody>
      </p:sp>
      <p:pic>
        <p:nvPicPr>
          <p:cNvPr id="6" name="Picture 5" descr="fig4_dwt_decomposition.png"/>
          <p:cNvPicPr>
            <a:picLocks noChangeAspect="1"/>
          </p:cNvPicPr>
          <p:nvPr/>
        </p:nvPicPr>
        <p:blipFill>
          <a:blip r:embed="rId3"/>
          <a:stretch>
            <a:fillRect/>
          </a:stretch>
        </p:blipFill>
        <p:spPr>
          <a:xfrm>
            <a:off x="1676400" y="3566160"/>
            <a:ext cx="3048000" cy="2743200"/>
          </a:xfrm>
          <a:prstGeom prst="rect">
            <a:avLst/>
          </a:prstGeom>
        </p:spPr>
      </p:pic>
      <p:pic>
        <p:nvPicPr>
          <p:cNvPr id="7" name="Picture 6" descr="fig5_wpd_time_frequency.png"/>
          <p:cNvPicPr>
            <a:picLocks noChangeAspect="1"/>
          </p:cNvPicPr>
          <p:nvPr/>
        </p:nvPicPr>
        <p:blipFill>
          <a:blip r:embed="rId4"/>
          <a:stretch>
            <a:fillRect/>
          </a:stretch>
        </p:blipFill>
        <p:spPr>
          <a:xfrm>
            <a:off x="6544733" y="3566160"/>
            <a:ext cx="4832773" cy="2743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WEKA classifier evaluation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Frank, Hall &amp; Witten, The WEKA Workbench, 2016; Breiman 2001 (RF); Platt 1998 (SMO).</a:t>
            </a:r>
          </a:p>
        </p:txBody>
      </p:sp>
      <p:sp>
        <p:nvSpPr>
          <p:cNvPr id="5" name="TextBox 4"/>
          <p:cNvSpPr txBox="1"/>
          <p:nvPr/>
        </p:nvSpPr>
        <p:spPr>
          <a:xfrm>
            <a:off x="548640" y="1325880"/>
            <a:ext cx="11064240" cy="2194560"/>
          </a:xfrm>
          <a:prstGeom prst="rect">
            <a:avLst/>
          </a:prstGeom>
          <a:noFill/>
        </p:spPr>
        <p:txBody>
          <a:bodyPr wrap="square">
            <a:spAutoFit/>
          </a:bodyPr>
          <a:lstStyle/>
          <a:p>
            <a:pPr>
              <a:spcAft>
                <a:spcPts val="700"/>
              </a:spcAft>
            </a:pPr>
            <a:r>
              <a:rPr sz="2000" b="0">
                <a:solidFill>
                  <a:srgbClr val="1F1F1E"/>
                </a:solidFill>
              </a:rPr>
              <a:t>• RandomForest -I 300 -K 0 -S 1 (primary); SMO, linear PolyKernel (secondary)</a:t>
            </a:r>
          </a:p>
          <a:p>
            <a:pPr>
              <a:spcAft>
                <a:spcPts val="700"/>
              </a:spcAft>
            </a:pPr>
            <a:r>
              <a:rPr sz="2000" b="0">
                <a:solidFill>
                  <a:srgbClr val="1F1F1E"/>
                </a:solidFill>
              </a:rPr>
              <a:t>• Thresholds from inner training folds only (specificity ≥ 0.80)</a:t>
            </a:r>
          </a:p>
          <a:p>
            <a:pPr>
              <a:spcAft>
                <a:spcPts val="700"/>
              </a:spcAft>
            </a:pPr>
            <a:r>
              <a:rPr sz="2000" b="0">
                <a:solidFill>
                  <a:srgbClr val="1F1F1E"/>
                </a:solidFill>
              </a:rPr>
              <a:t>• Demo fold: 699 train / 175 test patients; CLI = pipeline exactly; at 0.5: TN 131, FP 8, FN 19, TP 17</a:t>
            </a:r>
          </a:p>
        </p:txBody>
      </p:sp>
      <p:sp>
        <p:nvSpPr>
          <p:cNvPr id="6" name="Rounded Rectangle 5"/>
          <p:cNvSpPr/>
          <p:nvPr/>
        </p:nvSpPr>
        <p:spPr>
          <a:xfrm>
            <a:off x="548640" y="3749039"/>
            <a:ext cx="3566160" cy="246888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Preprocess tab</a:t>
            </a:r>
            <a:br/>
            <a:r>
              <a:t>1_preprocess.png</a:t>
            </a:r>
          </a:p>
        </p:txBody>
      </p:sp>
      <p:sp>
        <p:nvSpPr>
          <p:cNvPr id="7" name="Rounded Rectangle 6"/>
          <p:cNvSpPr/>
          <p:nvPr/>
        </p:nvSpPr>
        <p:spPr>
          <a:xfrm>
            <a:off x="4297679" y="3749039"/>
            <a:ext cx="3566160" cy="246888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RF options dialog</a:t>
            </a:r>
            <a:br/>
            <a:r>
              <a:t>2_rf_options.png</a:t>
            </a:r>
          </a:p>
        </p:txBody>
      </p:sp>
      <p:sp>
        <p:nvSpPr>
          <p:cNvPr id="8" name="Rounded Rectangle 7"/>
          <p:cNvSpPr/>
          <p:nvPr/>
        </p:nvSpPr>
        <p:spPr>
          <a:xfrm>
            <a:off x="8046719" y="3749039"/>
            <a:ext cx="3566160" cy="246888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Result buffer + confusion matrix</a:t>
            </a:r>
            <a:br/>
            <a:r>
              <a:t>3_result_buffer.png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Baseline comparison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Vimalajeewa, Lee &amp; Vidaković, Sci Rep 15:10315, 2025. AUROC of repeat-averaged patient scores, 95 % CI.</a:t>
            </a:r>
          </a:p>
        </p:txBody>
      </p:sp>
      <p:graphicFrame>
        <p:nvGraphicFramePr>
          <p:cNvPr id="5" name="Table 4"/>
          <p:cNvGraphicFramePr>
            <a:graphicFrameLocks noGrp="1"/>
          </p:cNvGraphicFramePr>
          <p:nvPr/>
        </p:nvGraphicFramePr>
        <p:xfrm>
          <a:off x="548640" y="1417320"/>
          <a:ext cx="9601200" cy="2377440"/>
        </p:xfrm>
        <a:graphic>
          <a:graphicData uri="http://schemas.openxmlformats.org/drawingml/2006/table">
            <a:tbl>
              <a:tblPr firstRow="1" bandRow="1">
                <a:tableStyleId>{5C22544A-7EE6-4342-B048-85BDC9FD1C3A}</a:tableStyleId>
              </a:tblPr>
              <a:tblGrid>
                <a:gridCol w="5943600"/>
                <a:gridCol w="3657600"/>
              </a:tblGrid>
              <a:tr h="475488">
                <a:tc>
                  <a:txBody>
                    <a:bodyPr/>
                    <a:lstStyle/>
                    <a:p>
                      <a:pPr>
                        <a:spcBef>
                          <a:spcPts val="0"/>
                        </a:spcBef>
                        <a:spcAft>
                          <a:spcPts val="0"/>
                        </a:spcAft>
                        <a:defRPr sz="2000" b="1"/>
                      </a:pPr>
                      <a:r>
                        <a:t>Model (WEKA RF, 874 patients)</a:t>
                      </a:r>
                    </a:p>
                  </a:txBody>
                  <a:tcPr marT="18288" marB="18288"/>
                </a:tc>
                <a:tc>
                  <a:txBody>
                    <a:bodyPr/>
                    <a:lstStyle/>
                    <a:p>
                      <a:pPr>
                        <a:spcBef>
                          <a:spcPts val="0"/>
                        </a:spcBef>
                        <a:spcAft>
                          <a:spcPts val="0"/>
                        </a:spcAft>
                        <a:defRPr sz="2000" b="1"/>
                      </a:pPr>
                      <a:r>
                        <a:t>AUROC [95 % CI]</a:t>
                      </a:r>
                    </a:p>
                  </a:txBody>
                  <a:tcPr marT="18288" marB="18288"/>
                </a:tc>
              </a:tr>
              <a:tr h="475488">
                <a:tc>
                  <a:txBody>
                    <a:bodyPr/>
                    <a:lstStyle/>
                    <a:p>
                      <a:pPr>
                        <a:spcBef>
                          <a:spcPts val="0"/>
                        </a:spcBef>
                        <a:spcAft>
                          <a:spcPts val="0"/>
                        </a:spcAft>
                        <a:defRPr sz="2000" b="0"/>
                      </a:pPr>
                      <a:r>
                        <a:t>2025 wavelet baseline (B1)</a:t>
                      </a:r>
                    </a:p>
                  </a:txBody>
                  <a:tcPr marT="18288" marB="18288"/>
                </a:tc>
                <a:tc>
                  <a:txBody>
                    <a:bodyPr/>
                    <a:lstStyle/>
                    <a:p>
                      <a:pPr>
                        <a:spcBef>
                          <a:spcPts val="0"/>
                        </a:spcBef>
                        <a:spcAft>
                          <a:spcPts val="0"/>
                        </a:spcAft>
                        <a:defRPr sz="2000" b="0"/>
                      </a:pPr>
                      <a:r>
                        <a:t>0.726 [0.677, 0.773]</a:t>
                      </a:r>
                    </a:p>
                  </a:txBody>
                  <a:tcPr marT="18288" marB="18288"/>
                </a:tc>
              </a:tr>
              <a:tr h="475488">
                <a:tc>
                  <a:txBody>
                    <a:bodyPr/>
                    <a:lstStyle/>
                    <a:p>
                      <a:pPr>
                        <a:spcBef>
                          <a:spcPts val="0"/>
                        </a:spcBef>
                        <a:spcAft>
                          <a:spcPts val="0"/>
                        </a:spcAft>
                        <a:defRPr sz="2000" b="0"/>
                      </a:pPr>
                      <a:r>
                        <a:t>Whole-signal STFT bands</a:t>
                      </a:r>
                    </a:p>
                  </a:txBody>
                  <a:tcPr marT="18288" marB="18288"/>
                </a:tc>
                <a:tc>
                  <a:txBody>
                    <a:bodyPr/>
                    <a:lstStyle/>
                    <a:p>
                      <a:pPr>
                        <a:spcBef>
                          <a:spcPts val="0"/>
                        </a:spcBef>
                        <a:spcAft>
                          <a:spcPts val="0"/>
                        </a:spcAft>
                        <a:defRPr sz="2000" b="0"/>
                      </a:pPr>
                      <a:r>
                        <a:t>0.751 [0.701, 0.794]</a:t>
                      </a:r>
                    </a:p>
                  </a:txBody>
                  <a:tcPr marT="18288" marB="18288"/>
                </a:tc>
              </a:tr>
              <a:tr h="475488">
                <a:tc>
                  <a:txBody>
                    <a:bodyPr/>
                    <a:lstStyle/>
                    <a:p>
                      <a:pPr>
                        <a:spcBef>
                          <a:spcPts val="0"/>
                        </a:spcBef>
                        <a:spcAft>
                          <a:spcPts val="0"/>
                        </a:spcAft>
                        <a:defRPr sz="2000" b="0"/>
                      </a:pPr>
                      <a:r>
                        <a:t>Expert-aligned STFT (oracle)</a:t>
                      </a:r>
                    </a:p>
                  </a:txBody>
                  <a:tcPr marT="18288" marB="18288"/>
                </a:tc>
                <a:tc>
                  <a:txBody>
                    <a:bodyPr/>
                    <a:lstStyle/>
                    <a:p>
                      <a:pPr>
                        <a:spcBef>
                          <a:spcPts val="0"/>
                        </a:spcBef>
                        <a:spcAft>
                          <a:spcPts val="0"/>
                        </a:spcAft>
                        <a:defRPr sz="2000" b="0"/>
                      </a:pPr>
                      <a:r>
                        <a:t>0.815 [0.772, 0.853]</a:t>
                      </a:r>
                    </a:p>
                  </a:txBody>
                  <a:tcPr marT="18288" marB="18288"/>
                </a:tc>
              </a:tr>
              <a:tr h="475488">
                <a:tc>
                  <a:txBody>
                    <a:bodyPr/>
                    <a:lstStyle/>
                    <a:p>
                      <a:pPr>
                        <a:spcBef>
                          <a:spcPts val="0"/>
                        </a:spcBef>
                        <a:spcAft>
                          <a:spcPts val="0"/>
                        </a:spcAft>
                        <a:defRPr sz="2000" b="0"/>
                      </a:pPr>
                      <a:r>
                        <a:t>Automatic spans, STFT (E4)</a:t>
                      </a:r>
                    </a:p>
                  </a:txBody>
                  <a:tcPr marT="18288" marB="18288"/>
                </a:tc>
                <a:tc>
                  <a:txBody>
                    <a:bodyPr/>
                    <a:lstStyle/>
                    <a:p>
                      <a:pPr>
                        <a:spcBef>
                          <a:spcPts val="0"/>
                        </a:spcBef>
                        <a:spcAft>
                          <a:spcPts val="0"/>
                        </a:spcAft>
                        <a:defRPr sz="2000" b="0"/>
                      </a:pPr>
                      <a:r>
                        <a:t>0.809 [0.766, 0.849]</a:t>
                      </a:r>
                    </a:p>
                  </a:txBody>
                  <a:tcPr marT="18288" marB="18288"/>
                </a:tc>
              </a:tr>
            </a:tbl>
          </a:graphicData>
        </a:graphic>
      </p:graphicFrame>
      <p:sp>
        <p:nvSpPr>
          <p:cNvPr id="6" name="TextBox 5"/>
          <p:cNvSpPr txBox="1"/>
          <p:nvPr/>
        </p:nvSpPr>
        <p:spPr>
          <a:xfrm>
            <a:off x="548640" y="4206240"/>
            <a:ext cx="11064240" cy="1645920"/>
          </a:xfrm>
          <a:prstGeom prst="rect">
            <a:avLst/>
          </a:prstGeom>
          <a:noFill/>
        </p:spPr>
        <p:txBody>
          <a:bodyPr wrap="square">
            <a:spAutoFit/>
          </a:bodyPr>
          <a:lstStyle/>
          <a:p>
            <a:pPr>
              <a:spcAft>
                <a:spcPts val="700"/>
              </a:spcAft>
            </a:pPr>
            <a:r>
              <a:rPr sz="2100" b="1">
                <a:solidFill>
                  <a:srgbClr val="1F1F1E"/>
                </a:solidFill>
              </a:rPr>
              <a:t>• Aligned WPD − B1 (H4b): </a:t>
            </a:r>
            <a:r>
              <a:rPr sz="2100" b="0">
                <a:solidFill>
                  <a:srgbClr val="1F1F1E"/>
                </a:solidFill>
              </a:rPr>
              <a:t>+0.072 [+0.027, +0.122]</a:t>
            </a:r>
          </a:p>
          <a:p>
            <a:pPr>
              <a:spcAft>
                <a:spcPts val="700"/>
              </a:spcAft>
            </a:pPr>
            <a:r>
              <a:rPr sz="2100" b="1">
                <a:solidFill>
                  <a:srgbClr val="1F1F1E"/>
                </a:solidFill>
              </a:rPr>
              <a:t>• E4 − B1 (H9b): </a:t>
            </a:r>
            <a:r>
              <a:rPr sz="2100" b="0">
                <a:solidFill>
                  <a:srgbClr val="1F1F1E"/>
                </a:solidFill>
              </a:rPr>
              <a:t>+0.065 to +0.083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Timing-alignment experiments</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decomposition.png"/>
          <p:cNvPicPr>
            <a:picLocks noChangeAspect="1"/>
          </p:cNvPicPr>
          <p:nvPr/>
        </p:nvPicPr>
        <p:blipFill>
          <a:blip r:embed="rId3"/>
          <a:stretch>
            <a:fillRect/>
          </a:stretch>
        </p:blipFill>
        <p:spPr>
          <a:xfrm>
            <a:off x="274320" y="1973908"/>
            <a:ext cx="7680960" cy="3641703"/>
          </a:xfrm>
          <a:prstGeom prst="rect">
            <a:avLst/>
          </a:prstGeom>
        </p:spPr>
      </p:pic>
      <p:sp>
        <p:nvSpPr>
          <p:cNvPr id="5" name="TextBox 4"/>
          <p:cNvSpPr txBox="1"/>
          <p:nvPr/>
        </p:nvSpPr>
        <p:spPr>
          <a:xfrm>
            <a:off x="8046720" y="1463040"/>
            <a:ext cx="3931920" cy="4754880"/>
          </a:xfrm>
          <a:prstGeom prst="rect">
            <a:avLst/>
          </a:prstGeom>
          <a:noFill/>
        </p:spPr>
        <p:txBody>
          <a:bodyPr wrap="square">
            <a:spAutoFit/>
          </a:bodyPr>
          <a:lstStyle/>
          <a:p>
            <a:pPr>
              <a:spcAft>
                <a:spcPts val="700"/>
              </a:spcAft>
            </a:pPr>
            <a:r>
              <a:rPr sz="1900" b="1">
                <a:solidFill>
                  <a:srgbClr val="1F1F1E"/>
                </a:solidFill>
              </a:rPr>
              <a:t>• Timing destroyed (perm): </a:t>
            </a:r>
            <a:r>
              <a:rPr sz="1900" b="0">
                <a:solidFill>
                  <a:srgbClr val="1F1F1E"/>
                </a:solidFill>
              </a:rPr>
              <a:t>+0.131 to +0.174</a:t>
            </a:r>
          </a:p>
          <a:p>
            <a:pPr>
              <a:spcAft>
                <a:spcPts val="700"/>
              </a:spcAft>
            </a:pPr>
            <a:r>
              <a:rPr sz="1900" b="1">
                <a:solidFill>
                  <a:srgbClr val="1F1F1E"/>
                </a:solidFill>
              </a:rPr>
              <a:t>• Shifted labels: </a:t>
            </a:r>
            <a:r>
              <a:rPr sz="1900" b="0">
                <a:solidFill>
                  <a:srgbClr val="1F1F1E"/>
                </a:solidFill>
              </a:rPr>
              <a:t>+0.192 to +0.206</a:t>
            </a:r>
          </a:p>
          <a:p>
            <a:pPr>
              <a:spcAft>
                <a:spcPts val="700"/>
              </a:spcAft>
            </a:pPr>
            <a:r>
              <a:rPr sz="1900" b="1">
                <a:solidFill>
                  <a:srgbClr val="1F1F1E"/>
                </a:solidFill>
              </a:rPr>
              <a:t>• Within-span timing: </a:t>
            </a:r>
            <a:r>
              <a:rPr sz="1900" b="0">
                <a:solidFill>
                  <a:srgbClr val="1F1F1E"/>
                </a:solidFill>
              </a:rPr>
              <a:t>+0.169 to +0.193</a:t>
            </a:r>
          </a:p>
          <a:p>
            <a:pPr>
              <a:spcAft>
                <a:spcPts val="700"/>
              </a:spcAft>
            </a:pPr>
            <a:r>
              <a:rPr sz="1900" b="0">
                <a:solidFill>
                  <a:srgbClr val="1F1F1E"/>
                </a:solidFill>
              </a:rPr>
              <a:t>• Span choice without timing: −0.062 to −0.020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Automatic segmentation</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LR-HSMM: Springer, Tarassenko &amp; Clifford, IEEE TBME 2016 (Python port, GPL-3.0).</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700"/>
              </a:spcAft>
            </a:pPr>
            <a:r>
              <a:rPr sz="2100" b="1">
                <a:solidFill>
                  <a:srgbClr val="1F1F1E"/>
                </a:solidFill>
              </a:rPr>
              <a:t>• E1 envelope peaks, E1b LR-HSMM: </a:t>
            </a:r>
            <a:r>
              <a:rPr sz="2100" b="0">
                <a:solidFill>
                  <a:srgbClr val="1F1F1E"/>
                </a:solidFill>
              </a:rPr>
              <a:t>targets missed (e.g. H8a −0.091 [−0.135, −0.045])</a:t>
            </a:r>
          </a:p>
          <a:p>
            <a:pPr>
              <a:spcAft>
                <a:spcPts val="700"/>
              </a:spcAft>
            </a:pPr>
            <a:r>
              <a:rPr sz="2100" b="0">
                <a:solidFill>
                  <a:srgbClr val="1F1F1E"/>
                </a:solidFill>
              </a:rPr>
              <a:t>• HSMM timing inside expert spans is close to expert: +0.010 to +0.015</a:t>
            </a:r>
          </a:p>
          <a:p>
            <a:pPr>
              <a:spcAft>
                <a:spcPts val="700"/>
              </a:spcAft>
            </a:pPr>
            <a:r>
              <a:rPr sz="2100" b="0">
                <a:solidFill>
                  <a:srgbClr val="1F1F1E"/>
                </a:solidFill>
              </a:rPr>
              <a:t>• What is missing is span selection: +0.077 to +0.091</a:t>
            </a:r>
          </a:p>
          <a:p>
            <a:pPr>
              <a:spcAft>
                <a:spcPts val="700"/>
              </a:spcAft>
            </a:pPr>
            <a:r>
              <a:rPr sz="2100" b="1">
                <a:solidFill>
                  <a:srgbClr val="1F1F1E"/>
                </a:solidFill>
              </a:rPr>
              <a:t>• E4 learned span detector vs expert (H9a): </a:t>
            </a:r>
            <a:r>
              <a:rPr sz="2100" b="0">
                <a:solidFill>
                  <a:srgbClr val="1F1F1E"/>
                </a:solidFill>
              </a:rPr>
              <a:t>−0.007 [−0.044, +0.031]</a:t>
            </a:r>
          </a:p>
          <a:p>
            <a:pPr>
              <a:spcAft>
                <a:spcPts val="700"/>
              </a:spcAft>
            </a:pPr>
            <a:r>
              <a:rPr sz="1800" b="0">
                <a:solidFill>
                  <a:srgbClr val="6B6A64"/>
                </a:solidFill>
              </a:rPr>
              <a:t>– point-estimate rule (≥ −0.03) met; statistical non-inferiority NOT established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Wavelet vs Fourier findings</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wavelet.png"/>
          <p:cNvPicPr>
            <a:picLocks noChangeAspect="1"/>
          </p:cNvPicPr>
          <p:nvPr/>
        </p:nvPicPr>
        <p:blipFill>
          <a:blip r:embed="rId3"/>
          <a:stretch>
            <a:fillRect/>
          </a:stretch>
        </p:blipFill>
        <p:spPr>
          <a:xfrm>
            <a:off x="274320" y="1973100"/>
            <a:ext cx="7498079" cy="3643318"/>
          </a:xfrm>
          <a:prstGeom prst="rect">
            <a:avLst/>
          </a:prstGeom>
        </p:spPr>
      </p:pic>
      <p:sp>
        <p:nvSpPr>
          <p:cNvPr id="5" name="TextBox 4"/>
          <p:cNvSpPr txBox="1"/>
          <p:nvPr/>
        </p:nvSpPr>
        <p:spPr>
          <a:xfrm>
            <a:off x="7863840" y="1463040"/>
            <a:ext cx="4114800" cy="4754880"/>
          </a:xfrm>
          <a:prstGeom prst="rect">
            <a:avLst/>
          </a:prstGeom>
          <a:noFill/>
        </p:spPr>
        <p:txBody>
          <a:bodyPr wrap="square">
            <a:spAutoFit/>
          </a:bodyPr>
          <a:lstStyle/>
          <a:p>
            <a:pPr>
              <a:spcAft>
                <a:spcPts val="700"/>
              </a:spcAft>
            </a:pPr>
            <a:r>
              <a:rPr sz="1900" b="1">
                <a:solidFill>
                  <a:srgbClr val="1F1F1E"/>
                </a:solidFill>
              </a:rPr>
              <a:t>• WPD − STFT: </a:t>
            </a:r>
            <a:r>
              <a:rPr sz="1900" b="0">
                <a:solidFill>
                  <a:srgbClr val="1F1F1E"/>
                </a:solidFill>
              </a:rPr>
              <a:t>−0.042 to +0.003</a:t>
            </a:r>
          </a:p>
          <a:p>
            <a:pPr>
              <a:spcAft>
                <a:spcPts val="700"/>
              </a:spcAft>
            </a:pPr>
            <a:r>
              <a:rPr sz="1900" b="1">
                <a:solidFill>
                  <a:srgbClr val="1F1F1E"/>
                </a:solidFill>
              </a:rPr>
              <a:t>• Equivalence within ±0.03: </a:t>
            </a:r>
            <a:r>
              <a:rPr sz="1900" b="0">
                <a:solidFill>
                  <a:srgbClr val="1F1F1E"/>
                </a:solidFill>
              </a:rPr>
              <a:t>not shown</a:t>
            </a:r>
          </a:p>
          <a:p>
            <a:pPr>
              <a:spcAft>
                <a:spcPts val="700"/>
              </a:spcAft>
            </a:pPr>
            <a:r>
              <a:rPr sz="1900" b="0">
                <a:solidFill>
                  <a:srgbClr val="1F1F1E"/>
                </a:solidFill>
              </a:rPr>
              <a:t>• Scattering − STFT (H11a): −0.026 [−0.058, +0.005]</a:t>
            </a:r>
          </a:p>
          <a:p>
            <a:pPr>
              <a:spcAft>
                <a:spcPts val="700"/>
              </a:spcAft>
            </a:pPr>
            <a:r>
              <a:rPr sz="1900" b="1">
                <a:solidFill>
                  <a:srgbClr val="1F1F1E"/>
                </a:solidFill>
              </a:rPr>
              <a:t>• STFT is at least as good — </a:t>
            </a:r>
            <a:r>
              <a:rPr sz="1900" b="0">
                <a:solidFill>
                  <a:srgbClr val="1F1F1E"/>
                </a:solidFill>
              </a:rPr>
              <a:t>no wavelet superiority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External test: ZCHSound AUROC 0.709</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55080"/>
            <a:ext cx="11064240" cy="411480"/>
          </a:xfrm>
          <a:prstGeom prst="rect">
            <a:avLst/>
          </a:prstGeom>
          <a:noFill/>
        </p:spPr>
        <p:txBody>
          <a:bodyPr wrap="square">
            <a:spAutoFit/>
          </a:bodyPr>
          <a:lstStyle/>
          <a:p>
            <a:pPr>
              <a:defRPr sz="1200">
                <a:solidFill>
                  <a:srgbClr val="6B6A64"/>
                </a:solidFill>
              </a:defRPr>
            </a:pPr>
            <a:r>
              <a:t>ZCHSound: Jia et al., IEEE TBME 71(8), 2024 (CC BY 4.0).</a:t>
            </a:r>
          </a:p>
        </p:txBody>
      </p:sp>
      <p:pic>
        <p:nvPicPr>
          <p:cNvPr id="5" name="Picture 4" descr="slide_external.png"/>
          <p:cNvPicPr>
            <a:picLocks noChangeAspect="1"/>
          </p:cNvPicPr>
          <p:nvPr/>
        </p:nvPicPr>
        <p:blipFill>
          <a:blip r:embed="rId3"/>
          <a:stretch>
            <a:fillRect/>
          </a:stretch>
        </p:blipFill>
        <p:spPr>
          <a:xfrm>
            <a:off x="274320" y="1672040"/>
            <a:ext cx="7863840" cy="3513919"/>
          </a:xfrm>
          <a:prstGeom prst="rect">
            <a:avLst/>
          </a:prstGeom>
        </p:spPr>
      </p:pic>
      <p:sp>
        <p:nvSpPr>
          <p:cNvPr id="6" name="TextBox 5"/>
          <p:cNvSpPr txBox="1"/>
          <p:nvPr/>
        </p:nvSpPr>
        <p:spPr>
          <a:xfrm>
            <a:off x="8229600" y="1463040"/>
            <a:ext cx="3749039" cy="4389120"/>
          </a:xfrm>
          <a:prstGeom prst="rect">
            <a:avLst/>
          </a:prstGeom>
          <a:noFill/>
        </p:spPr>
        <p:txBody>
          <a:bodyPr wrap="square">
            <a:spAutoFit/>
          </a:bodyPr>
          <a:lstStyle/>
          <a:p>
            <a:pPr>
              <a:spcAft>
                <a:spcPts val="700"/>
              </a:spcAft>
            </a:pPr>
            <a:r>
              <a:rPr sz="1900" b="1">
                <a:solidFill>
                  <a:srgbClr val="1F1F1E"/>
                </a:solidFill>
              </a:rPr>
              <a:t>• Clean set (H10a): </a:t>
            </a:r>
            <a:r>
              <a:rPr sz="1900" b="0">
                <a:solidFill>
                  <a:srgbClr val="1F1F1E"/>
                </a:solidFill>
              </a:rPr>
              <a:t>0.709 [0.675, 0.741]</a:t>
            </a:r>
          </a:p>
          <a:p>
            <a:pPr>
              <a:spcAft>
                <a:spcPts val="700"/>
              </a:spcAft>
            </a:pPr>
            <a:r>
              <a:rPr sz="1900" b="0">
                <a:solidFill>
                  <a:srgbClr val="1F1F1E"/>
                </a:solidFill>
              </a:rPr>
              <a:t>• VSD − PFO (H10b): +0.263 [+0.180, +0.343]</a:t>
            </a:r>
          </a:p>
          <a:p>
            <a:pPr>
              <a:spcAft>
                <a:spcPts val="700"/>
              </a:spcAft>
            </a:pPr>
            <a:r>
              <a:rPr sz="1900" b="0">
                <a:solidFill>
                  <a:srgbClr val="1F1F1E"/>
                </a:solidFill>
              </a:rPr>
              <a:t>• Noisy neonates: 0.535 (chance)</a:t>
            </a:r>
          </a:p>
          <a:p>
            <a:pPr>
              <a:spcAft>
                <a:spcPts val="700"/>
              </a:spcAft>
            </a:pPr>
            <a:r>
              <a:rPr sz="1900" b="0">
                <a:solidFill>
                  <a:srgbClr val="1F1F1E"/>
                </a:solidFill>
              </a:rPr>
              <a:t>• CHD label, not murmur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Shortcut learning and limitations</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4846320"/>
          </a:xfrm>
          <a:prstGeom prst="rect">
            <a:avLst/>
          </a:prstGeom>
          <a:noFill/>
        </p:spPr>
        <p:txBody>
          <a:bodyPr wrap="square">
            <a:spAutoFit/>
          </a:bodyPr>
          <a:lstStyle/>
          <a:p>
            <a:pPr>
              <a:spcAft>
                <a:spcPts val="700"/>
              </a:spcAft>
            </a:pPr>
            <a:r>
              <a:rPr sz="2100" b="0">
                <a:solidFill>
                  <a:srgbClr val="1F1F1E"/>
                </a:solidFill>
              </a:rPr>
              <a:t>• Span fraction alone predicts the class: AUROC 0.646</a:t>
            </a:r>
          </a:p>
          <a:p>
            <a:pPr>
              <a:spcAft>
                <a:spcPts val="700"/>
              </a:spcAft>
            </a:pPr>
            <a:r>
              <a:rPr sz="2100" b="1">
                <a:solidFill>
                  <a:srgbClr val="1F1F1E"/>
                </a:solidFill>
              </a:rPr>
              <a:t>• Shortcut-free E4q vs STFT + span info (H12a): </a:t>
            </a:r>
            <a:r>
              <a:rPr sz="2100" b="0">
                <a:solidFill>
                  <a:srgbClr val="1F1F1E"/>
                </a:solidFill>
              </a:rPr>
              <a:t>+0.046 [−0.001, +0.093] — not established</a:t>
            </a:r>
          </a:p>
          <a:p>
            <a:pPr>
              <a:spcAft>
                <a:spcPts val="700"/>
              </a:spcAft>
            </a:pPr>
            <a:r>
              <a:rPr sz="2100" b="0">
                <a:solidFill>
                  <a:srgbClr val="1F1F1E"/>
                </a:solidFill>
              </a:rPr>
              <a:t>• Cross-validation on one public cohort; no hidden test set; no clinical study</a:t>
            </a:r>
          </a:p>
          <a:p>
            <a:pPr>
              <a:spcAft>
                <a:spcPts val="700"/>
              </a:spcAft>
            </a:pPr>
            <a:r>
              <a:rPr sz="2100" b="0">
                <a:solidFill>
                  <a:srgbClr val="1F1F1E"/>
                </a:solidFill>
              </a:rPr>
              <a:t>• Only 179 Present patients; Unknown class excluded</a:t>
            </a:r>
          </a:p>
          <a:p>
            <a:pPr>
              <a:spcAft>
                <a:spcPts val="700"/>
              </a:spcAft>
            </a:pPr>
            <a:r>
              <a:rPr sz="2100" b="0">
                <a:solidFill>
                  <a:srgbClr val="1F1F1E"/>
                </a:solidFill>
              </a:rPr>
              <a:t>• Expert-label results are oracle-conditioned; sequential design after earlier results</a:t>
            </a:r>
          </a:p>
          <a:p>
            <a:pPr>
              <a:spcAft>
                <a:spcPts val="700"/>
              </a:spcAft>
            </a:pPr>
            <a:r>
              <a:rPr sz="2100" b="0">
                <a:solidFill>
                  <a:srgbClr val="1F1F1E"/>
                </a:solidFill>
              </a:rPr>
              <a:t>• SMO unstable on scattering features; B0's external score is an artefact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Conclusions</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4846320"/>
          </a:xfrm>
          <a:prstGeom prst="rect">
            <a:avLst/>
          </a:prstGeom>
          <a:noFill/>
        </p:spPr>
        <p:txBody>
          <a:bodyPr wrap="square">
            <a:spAutoFit/>
          </a:bodyPr>
          <a:lstStyle/>
          <a:p>
            <a:pPr>
              <a:spcAft>
                <a:spcPts val="700"/>
              </a:spcAft>
            </a:pPr>
            <a:r>
              <a:rPr sz="2400" b="0">
                <a:solidFill>
                  <a:srgbClr val="1F1F1E"/>
                </a:solidFill>
              </a:rPr>
              <a:t>• Cardiac-cycle </a:t>
            </a:r>
            <a:r>
              <a:rPr sz="2400" b="1">
                <a:solidFill>
                  <a:srgbClr val="1F1F1E"/>
                </a:solidFill>
              </a:rPr>
              <a:t>timing</a:t>
            </a:r>
            <a:r>
              <a:rPr sz="2400" b="0">
                <a:solidFill>
                  <a:srgbClr val="1F1F1E"/>
                </a:solidFill>
              </a:rPr>
              <a:t> carries the murmur information</a:t>
            </a:r>
          </a:p>
          <a:p>
            <a:pPr>
              <a:spcAft>
                <a:spcPts val="700"/>
              </a:spcAft>
            </a:pPr>
            <a:r>
              <a:rPr sz="2400" b="0">
                <a:solidFill>
                  <a:srgbClr val="1F1F1E"/>
                </a:solidFill>
              </a:rPr>
              <a:t>• The </a:t>
            </a:r>
            <a:r>
              <a:rPr sz="2400" b="1">
                <a:solidFill>
                  <a:srgbClr val="1F1F1E"/>
                </a:solidFill>
              </a:rPr>
              <a:t>transform</a:t>
            </a:r>
            <a:r>
              <a:rPr sz="2400" b="0">
                <a:solidFill>
                  <a:srgbClr val="1F1F1E"/>
                </a:solidFill>
              </a:rPr>
              <a:t> (WPD, STFT, scattering) does not change the result</a:t>
            </a:r>
          </a:p>
          <a:p>
            <a:pPr>
              <a:spcAft>
                <a:spcPts val="700"/>
              </a:spcAft>
            </a:pPr>
            <a:r>
              <a:rPr sz="2400" b="0">
                <a:solidFill>
                  <a:srgbClr val="1F1F1E"/>
                </a:solidFill>
              </a:rPr>
              <a:t>• Automatic segmentation needs </a:t>
            </a:r>
            <a:r>
              <a:rPr sz="2400" b="1">
                <a:solidFill>
                  <a:srgbClr val="1F1F1E"/>
                </a:solidFill>
              </a:rPr>
              <a:t>span selection</a:t>
            </a:r>
            <a:r>
              <a:rPr sz="2400" b="0">
                <a:solidFill>
                  <a:srgbClr val="1F1F1E"/>
                </a:solidFill>
              </a:rPr>
              <a:t>; non-inferiority not established</a:t>
            </a:r>
          </a:p>
          <a:p>
            <a:pPr>
              <a:spcAft>
                <a:spcPts val="700"/>
              </a:spcAft>
            </a:pPr>
            <a:r>
              <a:rPr sz="2400" b="0">
                <a:solidFill>
                  <a:srgbClr val="1F1F1E"/>
                </a:solidFill>
              </a:rPr>
              <a:t>• Transfer to paediatric CHD with the </a:t>
            </a:r>
            <a:r>
              <a:rPr sz="2400" b="1">
                <a:solidFill>
                  <a:srgbClr val="1F1F1E"/>
                </a:solidFill>
              </a:rPr>
              <a:t>physiological order</a:t>
            </a:r>
            <a:r>
              <a:rPr sz="2400" b="0">
                <a:solidFill>
                  <a:srgbClr val="1F1F1E"/>
                </a:solidFill>
              </a:rPr>
              <a:t/>
            </a:r>
          </a:p>
          <a:p>
            <a:pPr>
              <a:spcAft>
                <a:spcPts val="700"/>
              </a:spcAft>
            </a:pPr>
            <a:r>
              <a:rPr sz="2400" b="0">
                <a:solidFill>
                  <a:srgbClr val="1F1F1E"/>
                </a:solidFill>
              </a:rPr>
              <a:t>• Every hypothesis, failure and erratum is reported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Future work</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4846320"/>
          </a:xfrm>
          <a:prstGeom prst="rect">
            <a:avLst/>
          </a:prstGeom>
          <a:noFill/>
        </p:spPr>
        <p:txBody>
          <a:bodyPr wrap="square">
            <a:spAutoFit/>
          </a:bodyPr>
          <a:lstStyle/>
          <a:p>
            <a:pPr>
              <a:spcAft>
                <a:spcPts val="700"/>
              </a:spcAft>
            </a:pPr>
            <a:r>
              <a:rPr sz="2300" b="0">
                <a:solidFill>
                  <a:srgbClr val="1F1F1E"/>
                </a:solidFill>
              </a:rPr>
              <a:t>• Signal-quality gating for noisy (neonatal) recordings</a:t>
            </a:r>
          </a:p>
          <a:p>
            <a:pPr>
              <a:spcAft>
                <a:spcPts val="700"/>
              </a:spcAft>
            </a:pPr>
            <a:r>
              <a:rPr sz="2300" b="0">
                <a:solidFill>
                  <a:srgbClr val="1F1F1E"/>
                </a:solidFill>
              </a:rPr>
              <a:t>• Learned models evaluated under the same subject-grouped, shortcut-controlled protocol</a:t>
            </a:r>
          </a:p>
          <a:p>
            <a:pPr>
              <a:spcAft>
                <a:spcPts val="700"/>
              </a:spcAft>
            </a:pPr>
            <a:r>
              <a:rPr sz="2300" b="0">
                <a:solidFill>
                  <a:srgbClr val="1F1F1E"/>
                </a:solidFill>
              </a:rPr>
              <a:t>• A murmur-labelled external cohort and the CirCor hidden test set</a:t>
            </a:r>
          </a:p>
          <a:p>
            <a:pPr>
              <a:spcAft>
                <a:spcPts val="700"/>
              </a:spcAft>
            </a:pPr>
            <a:r>
              <a:rPr sz="2300" b="0">
                <a:solidFill>
                  <a:srgbClr val="1F1F1E"/>
                </a:solidFill>
              </a:rPr>
              <a:t>• A systematic audit of test-time expert segmentation in published CirCor work</a:t>
            </a:r>
          </a:p>
          <a:p>
            <a:pPr>
              <a:spcAft>
                <a:spcPts val="700"/>
              </a:spcAft>
            </a:pPr>
            <a:r>
              <a:rPr sz="2300" b="0">
                <a:solidFill>
                  <a:srgbClr val="1F1F1E"/>
                </a:solidFill>
              </a:rPr>
              <a:t>• Reproduce: scripts/p5_verify_integrity.py, docs/REPRODUCIBILITY.md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3200" b="1">
                <a:solidFill>
                  <a:srgbClr val="1F1F1E"/>
                </a:solidFill>
              </a:defRPr>
            </a:pPr>
            <a:r>
              <a:t>Backup: every pre-registered hypothesis (RF)</a:t>
            </a:r>
          </a:p>
        </p:txBody>
      </p:sp>
      <p:sp>
        <p:nvSpPr>
          <p:cNvPr id="3" name="Rectangle 2"/>
          <p:cNvSpPr/>
          <p:nvPr/>
        </p:nvSpPr>
        <p:spPr>
          <a:xfrm>
            <a:off x="548640" y="1115568"/>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64240" cy="4937760"/>
        </p:xfrm>
        <a:graphic>
          <a:graphicData uri="http://schemas.openxmlformats.org/drawingml/2006/table">
            <a:tbl>
              <a:tblPr firstRow="1" bandRow="1">
                <a:tableStyleId>{5C22544A-7EE6-4342-B048-85BDC9FD1C3A}</a:tableStyleId>
              </a:tblPr>
              <a:tblGrid>
                <a:gridCol w="1280160"/>
                <a:gridCol w="3840480"/>
                <a:gridCol w="3840480"/>
                <a:gridCol w="2103120"/>
              </a:tblGrid>
              <a:tr h="379827">
                <a:tc>
                  <a:txBody>
                    <a:bodyPr/>
                    <a:lstStyle/>
                    <a:p>
                      <a:pPr>
                        <a:spcBef>
                          <a:spcPts val="0"/>
                        </a:spcBef>
                        <a:spcAft>
                          <a:spcPts val="0"/>
                        </a:spcAft>
                        <a:defRPr sz="1800" b="1"/>
                      </a:pPr>
                      <a:r>
                        <a:t>Hyp.</a:t>
                      </a:r>
                    </a:p>
                  </a:txBody>
                  <a:tcPr marT="18288" marB="18288"/>
                </a:tc>
                <a:tc>
                  <a:txBody>
                    <a:bodyPr/>
                    <a:lstStyle/>
                    <a:p>
                      <a:pPr>
                        <a:spcBef>
                          <a:spcPts val="0"/>
                        </a:spcBef>
                        <a:spcAft>
                          <a:spcPts val="0"/>
                        </a:spcAft>
                        <a:defRPr sz="1800" b="1"/>
                      </a:pPr>
                      <a:r>
                        <a:t>Contrast</a:t>
                      </a:r>
                    </a:p>
                  </a:txBody>
                  <a:tcPr marT="18288" marB="18288"/>
                </a:tc>
                <a:tc>
                  <a:txBody>
                    <a:bodyPr/>
                    <a:lstStyle/>
                    <a:p>
                      <a:pPr>
                        <a:spcBef>
                          <a:spcPts val="0"/>
                        </a:spcBef>
                        <a:spcAft>
                          <a:spcPts val="0"/>
                        </a:spcAft>
                        <a:defRPr sz="1800" b="1"/>
                      </a:pPr>
                      <a:r>
                        <a:t>Δ AUROC</a:t>
                      </a:r>
                    </a:p>
                  </a:txBody>
                  <a:tcPr marT="18288" marB="18288"/>
                </a:tc>
                <a:tc>
                  <a:txBody>
                    <a:bodyPr/>
                    <a:lstStyle/>
                    <a:p>
                      <a:pPr>
                        <a:spcBef>
                          <a:spcPts val="0"/>
                        </a:spcBef>
                        <a:spcAft>
                          <a:spcPts val="0"/>
                        </a:spcAft>
                        <a:defRPr sz="1800" b="1"/>
                      </a:pPr>
                      <a:r>
                        <a:t>Verdict</a:t>
                      </a:r>
                    </a:p>
                  </a:txBody>
                  <a:tcPr marT="18288" marB="18288"/>
                </a:tc>
              </a:tr>
              <a:tr h="379827">
                <a:tc>
                  <a:txBody>
                    <a:bodyPr/>
                    <a:lstStyle/>
                    <a:p>
                      <a:pPr>
                        <a:spcBef>
                          <a:spcPts val="0"/>
                        </a:spcBef>
                        <a:spcAft>
                          <a:spcPts val="0"/>
                        </a:spcAft>
                        <a:defRPr sz="1800" b="0"/>
                      </a:pPr>
                      <a:r>
                        <a:t>H2a/b</a:t>
                      </a:r>
                    </a:p>
                  </a:txBody>
                  <a:tcPr marT="18288" marB="18288"/>
                </a:tc>
                <a:tc>
                  <a:txBody>
                    <a:bodyPr/>
                    <a:lstStyle/>
                    <a:p>
                      <a:pPr>
                        <a:spcBef>
                          <a:spcPts val="0"/>
                        </a:spcBef>
                        <a:spcAft>
                          <a:spcPts val="0"/>
                        </a:spcAft>
                        <a:defRPr sz="1800" b="0"/>
                      </a:pPr>
                      <a:r>
                        <a:t>WPD − STFT (aligned / whole)</a:t>
                      </a:r>
                    </a:p>
                  </a:txBody>
                  <a:tcPr marT="18288" marB="18288"/>
                </a:tc>
                <a:tc>
                  <a:txBody>
                    <a:bodyPr/>
                    <a:lstStyle/>
                    <a:p>
                      <a:pPr>
                        <a:spcBef>
                          <a:spcPts val="0"/>
                        </a:spcBef>
                        <a:spcAft>
                          <a:spcPts val="0"/>
                        </a:spcAft>
                        <a:defRPr sz="1800" b="0"/>
                      </a:pPr>
                      <a:r>
                        <a:t>−0.017 / −0.066</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H3</a:t>
                      </a:r>
                    </a:p>
                  </a:txBody>
                  <a:tcPr marT="18288" marB="18288"/>
                </a:tc>
                <a:tc>
                  <a:txBody>
                    <a:bodyPr/>
                    <a:lstStyle/>
                    <a:p>
                      <a:pPr>
                        <a:spcBef>
                          <a:spcPts val="0"/>
                        </a:spcBef>
                        <a:spcAft>
                          <a:spcPts val="0"/>
                        </a:spcAft>
                        <a:defRPr sz="1800" b="0"/>
                      </a:pPr>
                      <a:r>
                        <a:t>aligned − whole WPD</a:t>
                      </a:r>
                    </a:p>
                  </a:txBody>
                  <a:tcPr marT="18288" marB="18288"/>
                </a:tc>
                <a:tc>
                  <a:txBody>
                    <a:bodyPr/>
                    <a:lstStyle/>
                    <a:p>
                      <a:pPr>
                        <a:spcBef>
                          <a:spcPts val="0"/>
                        </a:spcBef>
                        <a:spcAft>
                          <a:spcPts val="0"/>
                        </a:spcAft>
                        <a:defRPr sz="1800" b="0"/>
                      </a:pPr>
                      <a:r>
                        <a:t>+0.113</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H4a/b</a:t>
                      </a:r>
                    </a:p>
                  </a:txBody>
                  <a:tcPr marT="18288" marB="18288"/>
                </a:tc>
                <a:tc>
                  <a:txBody>
                    <a:bodyPr/>
                    <a:lstStyle/>
                    <a:p>
                      <a:pPr>
                        <a:spcBef>
                          <a:spcPts val="0"/>
                        </a:spcBef>
                        <a:spcAft>
                          <a:spcPts val="0"/>
                        </a:spcAft>
                        <a:defRPr sz="1800" b="0"/>
                      </a:pPr>
                      <a:r>
                        <a:t>aligned WPD − B0 / B1</a:t>
                      </a:r>
                    </a:p>
                  </a:txBody>
                  <a:tcPr marT="18288" marB="18288"/>
                </a:tc>
                <a:tc>
                  <a:txBody>
                    <a:bodyPr/>
                    <a:lstStyle/>
                    <a:p>
                      <a:pPr>
                        <a:spcBef>
                          <a:spcPts val="0"/>
                        </a:spcBef>
                        <a:spcAft>
                          <a:spcPts val="0"/>
                        </a:spcAft>
                        <a:defRPr sz="1800" b="0"/>
                      </a:pPr>
                      <a:r>
                        <a:t>+0.051 / +0.072</a:t>
                      </a:r>
                    </a:p>
                  </a:txBody>
                  <a:tcPr marT="18288" marB="18288"/>
                </a:tc>
                <a:tc>
                  <a:txBody>
                    <a:bodyPr/>
                    <a:lstStyle/>
                    <a:p>
                      <a:pPr>
                        <a:spcBef>
                          <a:spcPts val="0"/>
                        </a:spcBef>
                        <a:spcAft>
                          <a:spcPts val="0"/>
                        </a:spcAft>
                        <a:defRPr sz="1800" b="0"/>
                      </a:pPr>
                      <a:r>
                        <a:t>no / supported</a:t>
                      </a:r>
                    </a:p>
                  </a:txBody>
                  <a:tcPr marT="18288" marB="18288"/>
                </a:tc>
              </a:tr>
              <a:tr h="379827">
                <a:tc>
                  <a:txBody>
                    <a:bodyPr/>
                    <a:lstStyle/>
                    <a:p>
                      <a:pPr>
                        <a:spcBef>
                          <a:spcPts val="0"/>
                        </a:spcBef>
                        <a:spcAft>
                          <a:spcPts val="0"/>
                        </a:spcAft>
                        <a:defRPr sz="1800" b="0"/>
                      </a:pPr>
                      <a:r>
                        <a:t>H5a–d</a:t>
                      </a:r>
                    </a:p>
                  </a:txBody>
                  <a:tcPr marT="18288" marB="18288"/>
                </a:tc>
                <a:tc>
                  <a:txBody>
                    <a:bodyPr/>
                    <a:lstStyle/>
                    <a:p>
                      <a:pPr>
                        <a:spcBef>
                          <a:spcPts val="0"/>
                        </a:spcBef>
                        <a:spcAft>
                          <a:spcPts val="0"/>
                        </a:spcAft>
                        <a:defRPr sz="1800" b="0"/>
                      </a:pPr>
                      <a:r>
                        <a:t>expert − timing destroyed</a:t>
                      </a:r>
                    </a:p>
                  </a:txBody>
                  <a:tcPr marT="18288" marB="18288"/>
                </a:tc>
                <a:tc>
                  <a:txBody>
                    <a:bodyPr/>
                    <a:lstStyle/>
                    <a:p>
                      <a:pPr>
                        <a:spcBef>
                          <a:spcPts val="0"/>
                        </a:spcBef>
                        <a:spcAft>
                          <a:spcPts val="0"/>
                        </a:spcAft>
                        <a:defRPr sz="1800" b="0"/>
                      </a:pPr>
                      <a:r>
                        <a:t>+0.131 to +0.206</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H6, H8</a:t>
                      </a:r>
                    </a:p>
                  </a:txBody>
                  <a:tcPr marT="18288" marB="18288"/>
                </a:tc>
                <a:tc>
                  <a:txBody>
                    <a:bodyPr/>
                    <a:lstStyle/>
                    <a:p>
                      <a:pPr>
                        <a:spcBef>
                          <a:spcPts val="0"/>
                        </a:spcBef>
                        <a:spcAft>
                          <a:spcPts val="0"/>
                        </a:spcAft>
                        <a:defRPr sz="1800" b="0"/>
                      </a:pPr>
                      <a:r>
                        <a:t>naive / HSMM − expert</a:t>
                      </a:r>
                    </a:p>
                  </a:txBody>
                  <a:tcPr marT="18288" marB="18288"/>
                </a:tc>
                <a:tc>
                  <a:txBody>
                    <a:bodyPr/>
                    <a:lstStyle/>
                    <a:p>
                      <a:pPr>
                        <a:spcBef>
                          <a:spcPts val="0"/>
                        </a:spcBef>
                        <a:spcAft>
                          <a:spcPts val="0"/>
                        </a:spcAft>
                        <a:defRPr sz="1800" b="0"/>
                      </a:pPr>
                      <a:r>
                        <a:t>−0.106 to −0.062</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H9a/b</a:t>
                      </a:r>
                    </a:p>
                  </a:txBody>
                  <a:tcPr marT="18288" marB="18288"/>
                </a:tc>
                <a:tc>
                  <a:txBody>
                    <a:bodyPr/>
                    <a:lstStyle/>
                    <a:p>
                      <a:pPr>
                        <a:spcBef>
                          <a:spcPts val="0"/>
                        </a:spcBef>
                        <a:spcAft>
                          <a:spcPts val="0"/>
                        </a:spcAft>
                        <a:defRPr sz="1800" b="0"/>
                      </a:pPr>
                      <a:r>
                        <a:t>E4 − expert / B1</a:t>
                      </a:r>
                    </a:p>
                  </a:txBody>
                  <a:tcPr marT="18288" marB="18288"/>
                </a:tc>
                <a:tc>
                  <a:txBody>
                    <a:bodyPr/>
                    <a:lstStyle/>
                    <a:p>
                      <a:pPr>
                        <a:spcBef>
                          <a:spcPts val="0"/>
                        </a:spcBef>
                        <a:spcAft>
                          <a:spcPts val="0"/>
                        </a:spcAft>
                        <a:defRPr sz="1800" b="0"/>
                      </a:pPr>
                      <a:r>
                        <a:t>−0.007 to −0.005 / +0.065 to +0.083</a:t>
                      </a:r>
                    </a:p>
                  </a:txBody>
                  <a:tcPr marT="18288" marB="18288"/>
                </a:tc>
                <a:tc>
                  <a:txBody>
                    <a:bodyPr/>
                    <a:lstStyle/>
                    <a:p>
                      <a:pPr>
                        <a:spcBef>
                          <a:spcPts val="0"/>
                        </a:spcBef>
                        <a:spcAft>
                          <a:spcPts val="0"/>
                        </a:spcAft>
                        <a:defRPr sz="1800" b="0"/>
                      </a:pPr>
                      <a:r>
                        <a:t>rule met / supported</a:t>
                      </a:r>
                    </a:p>
                  </a:txBody>
                  <a:tcPr marT="18288" marB="18288"/>
                </a:tc>
              </a:tr>
              <a:tr h="379827">
                <a:tc>
                  <a:txBody>
                    <a:bodyPr/>
                    <a:lstStyle/>
                    <a:p>
                      <a:pPr>
                        <a:spcBef>
                          <a:spcPts val="0"/>
                        </a:spcBef>
                        <a:spcAft>
                          <a:spcPts val="0"/>
                        </a:spcAft>
                        <a:defRPr sz="1800" b="0"/>
                      </a:pPr>
                      <a:r>
                        <a:t>H9c</a:t>
                      </a:r>
                    </a:p>
                  </a:txBody>
                  <a:tcPr marT="18288" marB="18288"/>
                </a:tc>
                <a:tc>
                  <a:txBody>
                    <a:bodyPr/>
                    <a:lstStyle/>
                    <a:p>
                      <a:pPr>
                        <a:spcBef>
                          <a:spcPts val="0"/>
                        </a:spcBef>
                        <a:spcAft>
                          <a:spcPts val="0"/>
                        </a:spcAft>
                        <a:defRPr sz="1800" b="0"/>
                      </a:pPr>
                      <a:r>
                        <a:t>E4 − W_stft</a:t>
                      </a:r>
                    </a:p>
                  </a:txBody>
                  <a:tcPr marT="18288" marB="18288"/>
                </a:tc>
                <a:tc>
                  <a:txBody>
                    <a:bodyPr/>
                    <a:lstStyle/>
                    <a:p>
                      <a:pPr>
                        <a:spcBef>
                          <a:spcPts val="0"/>
                        </a:spcBef>
                        <a:spcAft>
                          <a:spcPts val="0"/>
                        </a:spcAft>
                        <a:defRPr sz="1800" b="0"/>
                      </a:pPr>
                      <a:r>
                        <a:t>+0.040 to +0.058</a:t>
                      </a:r>
                    </a:p>
                  </a:txBody>
                  <a:tcPr marT="18288" marB="18288"/>
                </a:tc>
                <a:tc>
                  <a:txBody>
                    <a:bodyPr/>
                    <a:lstStyle/>
                    <a:p>
                      <a:pPr>
                        <a:spcBef>
                          <a:spcPts val="0"/>
                        </a:spcBef>
                        <a:spcAft>
                          <a:spcPts val="0"/>
                        </a:spcAft>
                        <a:defRPr sz="1800" b="0"/>
                      </a:pPr>
                      <a:r>
                        <a:t>stft, wpds only</a:t>
                      </a:r>
                    </a:p>
                  </a:txBody>
                  <a:tcPr marT="18288" marB="18288"/>
                </a:tc>
              </a:tr>
              <a:tr h="379827">
                <a:tc>
                  <a:txBody>
                    <a:bodyPr/>
                    <a:lstStyle/>
                    <a:p>
                      <a:pPr>
                        <a:spcBef>
                          <a:spcPts val="0"/>
                        </a:spcBef>
                        <a:spcAft>
                          <a:spcPts val="0"/>
                        </a:spcAft>
                        <a:defRPr sz="1800" b="0"/>
                      </a:pPr>
                      <a:r>
                        <a:t>S1</a:t>
                      </a:r>
                    </a:p>
                  </a:txBody>
                  <a:tcPr marT="18288" marB="18288"/>
                </a:tc>
                <a:tc>
                  <a:txBody>
                    <a:bodyPr/>
                    <a:lstStyle/>
                    <a:p>
                      <a:pPr>
                        <a:spcBef>
                          <a:spcPts val="0"/>
                        </a:spcBef>
                        <a:spcAft>
                          <a:spcPts val="0"/>
                        </a:spcAft>
                        <a:defRPr sz="1800" b="0"/>
                      </a:pPr>
                      <a:r>
                        <a:t>E4 − (W_stft + SC)</a:t>
                      </a:r>
                    </a:p>
                  </a:txBody>
                  <a:tcPr marT="18288" marB="18288"/>
                </a:tc>
                <a:tc>
                  <a:txBody>
                    <a:bodyPr/>
                    <a:lstStyle/>
                    <a:p>
                      <a:pPr>
                        <a:spcBef>
                          <a:spcPts val="0"/>
                        </a:spcBef>
                        <a:spcAft>
                          <a:spcPts val="0"/>
                        </a:spcAft>
                        <a:defRPr sz="1800" b="0"/>
                      </a:pPr>
                      <a:r>
                        <a:t>+0.026 to +0.043</a:t>
                      </a:r>
                    </a:p>
                  </a:txBody>
                  <a:tcPr marT="18288" marB="18288"/>
                </a:tc>
                <a:tc>
                  <a:txBody>
                    <a:bodyPr/>
                    <a:lstStyle/>
                    <a:p>
                      <a:pPr>
                        <a:spcBef>
                          <a:spcPts val="0"/>
                        </a:spcBef>
                        <a:spcAft>
                          <a:spcPts val="0"/>
                        </a:spcAft>
                        <a:defRPr sz="1800" b="0"/>
                      </a:pPr>
                      <a:r>
                        <a:t>possibly shortcut</a:t>
                      </a:r>
                    </a:p>
                  </a:txBody>
                  <a:tcPr marT="18288" marB="18288"/>
                </a:tc>
              </a:tr>
              <a:tr h="379827">
                <a:tc>
                  <a:txBody>
                    <a:bodyPr/>
                    <a:lstStyle/>
                    <a:p>
                      <a:pPr>
                        <a:spcBef>
                          <a:spcPts val="0"/>
                        </a:spcBef>
                        <a:spcAft>
                          <a:spcPts val="0"/>
                        </a:spcAft>
                        <a:defRPr sz="1800" b="0"/>
                      </a:pPr>
                      <a:r>
                        <a:t>H10a/b</a:t>
                      </a:r>
                    </a:p>
                  </a:txBody>
                  <a:tcPr marT="18288" marB="18288"/>
                </a:tc>
                <a:tc>
                  <a:txBody>
                    <a:bodyPr/>
                    <a:lstStyle/>
                    <a:p>
                      <a:pPr>
                        <a:spcBef>
                          <a:spcPts val="0"/>
                        </a:spcBef>
                        <a:spcAft>
                          <a:spcPts val="0"/>
                        </a:spcAft>
                        <a:defRPr sz="1800" b="0"/>
                      </a:pPr>
                      <a:r>
                        <a:t>ZCHSound AUROC / subtype order</a:t>
                      </a:r>
                    </a:p>
                  </a:txBody>
                  <a:tcPr marT="18288" marB="18288"/>
                </a:tc>
                <a:tc>
                  <a:txBody>
                    <a:bodyPr/>
                    <a:lstStyle/>
                    <a:p>
                      <a:pPr>
                        <a:spcBef>
                          <a:spcPts val="0"/>
                        </a:spcBef>
                        <a:spcAft>
                          <a:spcPts val="0"/>
                        </a:spcAft>
                        <a:defRPr sz="1800" b="0"/>
                      </a:pPr>
                      <a:r>
                        <a:t>0.709 / +0.263</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H11a–c</a:t>
                      </a:r>
                    </a:p>
                  </a:txBody>
                  <a:tcPr marT="18288" marB="18288"/>
                </a:tc>
                <a:tc>
                  <a:txBody>
                    <a:bodyPr/>
                    <a:lstStyle/>
                    <a:p>
                      <a:pPr>
                        <a:spcBef>
                          <a:spcPts val="0"/>
                        </a:spcBef>
                        <a:spcAft>
                          <a:spcPts val="0"/>
                        </a:spcAft>
                        <a:defRPr sz="1800" b="0"/>
                      </a:pPr>
                      <a:r>
                        <a:t>scattering − STFT</a:t>
                      </a:r>
                    </a:p>
                  </a:txBody>
                  <a:tcPr marT="18288" marB="18288"/>
                </a:tc>
                <a:tc>
                  <a:txBody>
                    <a:bodyPr/>
                    <a:lstStyle/>
                    <a:p>
                      <a:pPr>
                        <a:spcBef>
                          <a:spcPts val="0"/>
                        </a:spcBef>
                        <a:spcAft>
                          <a:spcPts val="0"/>
                        </a:spcAft>
                        <a:defRPr sz="1800" b="0"/>
                      </a:pPr>
                      <a:r>
                        <a:t>−0.026 to +0.013</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H12a</a:t>
                      </a:r>
                    </a:p>
                  </a:txBody>
                  <a:tcPr marT="18288" marB="18288"/>
                </a:tc>
                <a:tc>
                  <a:txBody>
                    <a:bodyPr/>
                    <a:lstStyle/>
                    <a:p>
                      <a:pPr>
                        <a:spcBef>
                          <a:spcPts val="0"/>
                        </a:spcBef>
                        <a:spcAft>
                          <a:spcPts val="0"/>
                        </a:spcAft>
                        <a:defRPr sz="1800" b="0"/>
                      </a:pPr>
                      <a:r>
                        <a:t>E4q − (W_stft + SC_q)</a:t>
                      </a:r>
                    </a:p>
                  </a:txBody>
                  <a:tcPr marT="18288" marB="18288"/>
                </a:tc>
                <a:tc>
                  <a:txBody>
                    <a:bodyPr/>
                    <a:lstStyle/>
                    <a:p>
                      <a:pPr>
                        <a:spcBef>
                          <a:spcPts val="0"/>
                        </a:spcBef>
                        <a:spcAft>
                          <a:spcPts val="0"/>
                        </a:spcAft>
                        <a:defRPr sz="1800" b="0"/>
                      </a:pPr>
                      <a:r>
                        <a:t>+0.035 to +0.046</a:t>
                      </a:r>
                    </a:p>
                  </a:txBody>
                  <a:tcPr marT="18288" marB="18288"/>
                </a:tc>
                <a:tc>
                  <a:txBody>
                    <a:bodyPr/>
                    <a:lstStyle/>
                    <a:p>
                      <a:pPr>
                        <a:spcBef>
                          <a:spcPts val="0"/>
                        </a:spcBef>
                        <a:spcAft>
                          <a:spcPts val="0"/>
                        </a:spcAft>
                        <a:defRPr sz="1800" b="0"/>
                      </a:pPr>
                      <a:r>
                        <a:t>possibly shortcut</a:t>
                      </a:r>
                    </a:p>
                  </a:txBody>
                  <a:tcPr marT="18288" marB="18288"/>
                </a:tc>
              </a:tr>
              <a:tr h="379836">
                <a:tc>
                  <a:txBody>
                    <a:bodyPr/>
                    <a:lstStyle/>
                    <a:p>
                      <a:pPr>
                        <a:spcBef>
                          <a:spcPts val="0"/>
                        </a:spcBef>
                        <a:spcAft>
                          <a:spcPts val="0"/>
                        </a:spcAft>
                        <a:defRPr sz="1800" b="0"/>
                      </a:pPr>
                      <a:r>
                        <a:t>H12b</a:t>
                      </a:r>
                    </a:p>
                  </a:txBody>
                  <a:tcPr marT="18288" marB="18288"/>
                </a:tc>
                <a:tc>
                  <a:txBody>
                    <a:bodyPr/>
                    <a:lstStyle/>
                    <a:p>
                      <a:pPr>
                        <a:spcBef>
                          <a:spcPts val="0"/>
                        </a:spcBef>
                        <a:spcAft>
                          <a:spcPts val="0"/>
                        </a:spcAft>
                        <a:defRPr sz="1800" b="0"/>
                      </a:pPr>
                      <a:r>
                        <a:t>E4q − random windows</a:t>
                      </a:r>
                    </a:p>
                  </a:txBody>
                  <a:tcPr marT="18288" marB="18288"/>
                </a:tc>
                <a:tc>
                  <a:txBody>
                    <a:bodyPr/>
                    <a:lstStyle/>
                    <a:p>
                      <a:pPr>
                        <a:spcBef>
                          <a:spcPts val="0"/>
                        </a:spcBef>
                        <a:spcAft>
                          <a:spcPts val="0"/>
                        </a:spcAft>
                        <a:defRPr sz="1800" b="0"/>
                      </a:pPr>
                      <a:r>
                        <a:t>+0.066 to +0.071</a:t>
                      </a:r>
                    </a:p>
                  </a:txBody>
                  <a:tcPr marT="18288" marB="18288"/>
                </a:tc>
                <a:tc>
                  <a:txBody>
                    <a:bodyPr/>
                    <a:lstStyle/>
                    <a:p>
                      <a:pPr>
                        <a:spcBef>
                          <a:spcPts val="0"/>
                        </a:spcBef>
                        <a:spcAft>
                          <a:spcPts val="0"/>
                        </a:spcAft>
                        <a:defRPr sz="1800" b="0"/>
                      </a:pPr>
                      <a:r>
                        <a:t>supported</a:t>
                      </a:r>
                    </a:p>
                  </a:txBody>
                  <a:tcPr marT="18288" marB="18288"/>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