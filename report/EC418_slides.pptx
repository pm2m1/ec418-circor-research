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asks which part of a classical heart-sound pipeline carries the murmur information. Every number on these slides is generated from saved result tables by a script, and every hypothesis was pre-registered with a fixed decision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murmur detectors segment each heart sound into cardiac cycles and use wavelet features. We separate the two ingredients, timing and transform, and we also ask how much a result depends on expert annotations that a deployed system would not have at test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CirCor is the PhysioNet 2022 Challenge training set with expert murmur labels and segmentation. We use Present versus Absent and exclude Unknown. ZCHSound is an independent Chinese paediatric cohort labelled with congenital heart disease diagnoses, not murmurs, and it was never used for training, tuning or thresholds.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recording is segmented, band features are computed on a cycle-aligned grid, and patient vectors go to WEKA. The controls keep the same features but destroy the timing, or use whole-signal features, or give the baseline the same span information, so each contrast isolates one ingredient.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wavelet packet transform splits the signal into 16 equal bands; the STFT bands are matched to the same edges and time grid, so wavelet against Fourier is a like-for-like contrast. Wavelet scattering adds a modulation layer and was pre-registered as a separate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models are WEKA 3.9.7 classifiers called in batch. WEKA's own cross-validation is never used, because it splits rows and would put recordings of the same child in training and test. The command-line run of one fold reproduces the pipeline's predictions exactly, and the three Explorer screenshots will show the same fold in the GUI.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the features but destroying their alignment to the cardiac cycle costs about a sixth of the AUROC, in all 25 folds. The diagnostics split the gain exactly: within-span timing explains it, while the expert's choice of spans contributes nothing positive. Rows with a star use the expert annotation at test time and are diagnostics 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every labelling, wavelet packets are at most equal to matched STFT bands, and equivalence within the pre-registered margin is not shown either. Wavelet scattering does not beat STFT bands; its second-order gain is below the pre-registered 0.03.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learned span detector the automatic pipeline comes within the pre-registered margin of expert labels on the point estimate, although the confidence interval is too wide to establish non-inferiority. Its span fraction is also predictive, so we built a shortcut-free version, E4q. E4q keeps the AUROC and beats random windows, yet its margin over a whole-signal STFT baseline with the same span information has a confidence interval that touches zero, so that advantage is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Trained once on all CirCor patients and applied unchanged, the whole-signal STFT model detects CHD on ZCHSound. The subtypes follow the pre-registered physiological order: loud shunts are detected best, the silent PFO is at chance. On the noisy neonatal set every model is at chance.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papers report much higher numbers than ours, and these two show why they are not on the same scale. One reports a balanced accuracy at a single threshold with test segments cut at expert S1 labels; the other reports snippet accuracy on annotated periods. On the same balanced-accuracy scale our expert-label model is far lower.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results that did not work or that limit what we can claim. In particular, the advantage of the timing pipeline over a shortcut-aware STFT baseline is not established, and ZCHSound tests CHD rather than murmurs.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matters, the transform does not, and a simple whole-signal model transfers to an independent CHD cohort with the expected physiological ordering. Future work is quality gating for noisy recordings, learned models under the same protocol, a murmur-labelled external set, and a systematic audit of test-time expert segmentation in the literature.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versioned: protocols were tagged before the runs, results are frozen with hash manifests, and Phase 1 was reproduced on a second platform. The numbers on these slides and in the report are generated from the saved tables and checked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every pre-registered hypothesis family with the range over representations and the verdict. The full table with confidence intervals is in the report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Physiology-Aligned Multiresolution Analysis</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64240" cy="4937760"/>
          </a:xfrm>
          <a:prstGeom prst="rect">
            <a:avLst/>
          </a:prstGeom>
          <a:noFill/>
        </p:spPr>
        <p:txBody>
          <a:bodyPr wrap="square">
            <a:spAutoFit/>
          </a:bodyPr>
          <a:lstStyle/>
          <a:p>
            <a:pPr>
              <a:spcAft>
                <a:spcPts val="800"/>
              </a:spcAft>
            </a:pPr>
            <a:r>
              <a:rPr sz="2600" b="0">
                <a:solidFill>
                  <a:srgbClr val="1F1F1E"/>
                </a:solidFill>
              </a:rPr>
              <a:t>• for Patient-Independent Heart-Murmur Detection: a comparative study of wavelet and Fourier features</a:t>
            </a:r>
          </a:p>
          <a:p>
            <a:pPr>
              <a:spcAft>
                <a:spcPts val="800"/>
              </a:spcAft>
            </a:pPr>
            <a:r>
              <a:rPr sz="2600" b="0">
                <a:solidFill>
                  <a:srgbClr val="1F1F1E"/>
                </a:solidFill>
              </a:rPr>
              <a:t>• Parth Mishra — National Institute of Technology Warangal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Problem: what actually helps murmur detection?</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200" b="0">
                <a:solidFill>
                  <a:srgbClr val="1F1F1E"/>
                </a:solidFill>
              </a:rPr>
              <a:t>• Murmurs are timed events: systolic or diastolic, between S1 and S2</a:t>
            </a:r>
          </a:p>
          <a:p>
            <a:pPr>
              <a:spcAft>
                <a:spcPts val="800"/>
              </a:spcAft>
            </a:pPr>
            <a:r>
              <a:rPr sz="2200" b="0">
                <a:solidFill>
                  <a:srgbClr val="1F1F1E"/>
                </a:solidFill>
              </a:rPr>
              <a:t>• Question 1: does </a:t>
            </a:r>
            <a:r>
              <a:rPr sz="2200" b="1">
                <a:solidFill>
                  <a:srgbClr val="1F1F1E"/>
                </a:solidFill>
              </a:rPr>
              <a:t>cardiac-cycle timing</a:t>
            </a:r>
            <a:r>
              <a:rPr sz="2200" b="0">
                <a:solidFill>
                  <a:srgbClr val="1F1F1E"/>
                </a:solidFill>
              </a:rPr>
              <a:t> help?</a:t>
            </a:r>
          </a:p>
          <a:p>
            <a:pPr>
              <a:spcAft>
                <a:spcPts val="800"/>
              </a:spcAft>
            </a:pPr>
            <a:r>
              <a:rPr sz="2200" b="0">
                <a:solidFill>
                  <a:srgbClr val="1F1F1E"/>
                </a:solidFill>
              </a:rPr>
              <a:t>• Question 2: does the </a:t>
            </a:r>
            <a:r>
              <a:rPr sz="2200" b="1">
                <a:solidFill>
                  <a:srgbClr val="1F1F1E"/>
                </a:solidFill>
              </a:rPr>
              <a:t>time–frequency transform</a:t>
            </a:r>
            <a:r>
              <a:rPr sz="2200" b="0">
                <a:solidFill>
                  <a:srgbClr val="1F1F1E"/>
                </a:solidFill>
              </a:rPr>
              <a:t> (wavelets vs Fourier) matter?</a:t>
            </a:r>
          </a:p>
          <a:p>
            <a:pPr>
              <a:spcAft>
                <a:spcPts val="800"/>
              </a:spcAft>
            </a:pPr>
            <a:r>
              <a:rPr sz="2200" b="0">
                <a:solidFill>
                  <a:srgbClr val="1F1F1E"/>
                </a:solidFill>
              </a:rPr>
              <a:t>• Question 3: does a model </a:t>
            </a:r>
            <a:r>
              <a:rPr sz="2200" b="1">
                <a:solidFill>
                  <a:srgbClr val="1F1F1E"/>
                </a:solidFill>
              </a:rPr>
              <a:t>transfer</a:t>
            </a:r>
            <a:r>
              <a:rPr sz="2200" b="0">
                <a:solidFill>
                  <a:srgbClr val="1F1F1E"/>
                </a:solidFill>
              </a:rPr>
              <a:t> to an independent cohort?</a:t>
            </a:r>
          </a:p>
          <a:p>
            <a:pPr>
              <a:spcAft>
                <a:spcPts val="800"/>
              </a:spcAft>
            </a:pPr>
            <a:r>
              <a:rPr sz="2200" b="0">
                <a:solidFill>
                  <a:srgbClr val="1F1F1E"/>
                </a:solidFill>
              </a:rPr>
              <a:t>• Caveat we test explicitly: expert segmentation at test time is an oracle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Data: CirCor for development, ZCHSound for external testing</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200" b="1">
                <a:solidFill>
                  <a:srgbClr val="1F1F1E"/>
                </a:solidFill>
              </a:rPr>
              <a:t>• CirCor DigiScope v1.0.3: </a:t>
            </a:r>
            <a:r>
              <a:rPr sz="2200" b="0">
                <a:solidFill>
                  <a:srgbClr val="1F1F1E"/>
                </a:solidFill>
              </a:rPr>
              <a:t>942 patients, 3,163 recordings, 4 sites</a:t>
            </a:r>
          </a:p>
          <a:p>
            <a:pPr lvl="1">
              <a:spcAft>
                <a:spcPts val="800"/>
              </a:spcAft>
            </a:pPr>
            <a:r>
              <a:rPr sz="1900" b="0">
                <a:solidFill>
                  <a:srgbClr val="6B6A64"/>
                </a:solidFill>
              </a:rPr>
              <a:t>– binary task: 874 patients (179 Present, 695 Absent), 816 subjects</a:t>
            </a:r>
          </a:p>
          <a:p>
            <a:pPr lvl="1">
              <a:spcAft>
                <a:spcPts val="800"/>
              </a:spcAft>
            </a:pPr>
            <a:r>
              <a:rPr sz="1900" b="0">
                <a:solidFill>
                  <a:srgbClr val="6B6A64"/>
                </a:solidFill>
              </a:rPr>
              <a:t>– expert S1 / systole / S2 / diastole annotations</a:t>
            </a:r>
          </a:p>
          <a:p>
            <a:pPr lvl="1">
              <a:spcAft>
                <a:spcPts val="800"/>
              </a:spcAft>
            </a:pPr>
            <a:r>
              <a:rPr sz="1900" b="0">
                <a:solidFill>
                  <a:srgbClr val="6B6A64"/>
                </a:solidFill>
              </a:rPr>
              <a:t>– 5 × 5 subject-grouped folds, fixed before any result</a:t>
            </a:r>
          </a:p>
          <a:p>
            <a:pPr>
              <a:spcAft>
                <a:spcPts val="800"/>
              </a:spcAft>
            </a:pPr>
            <a:r>
              <a:rPr sz="2200" b="1">
                <a:solidFill>
                  <a:srgbClr val="1F1F1E"/>
                </a:solidFill>
              </a:rPr>
              <a:t>• ZCHSound (Jia et al., 2024): </a:t>
            </a:r>
            <a:r>
              <a:rPr sz="2200" b="0">
                <a:solidFill>
                  <a:srgbClr val="1F1F1E"/>
                </a:solidFill>
              </a:rPr>
              <a:t>941 clean recordings (408 CHD) + 318 noisy neonatal</a:t>
            </a:r>
          </a:p>
          <a:p>
            <a:pPr lvl="1">
              <a:spcAft>
                <a:spcPts val="800"/>
              </a:spcAft>
            </a:pPr>
            <a:r>
              <a:rPr sz="1900" b="0">
                <a:solidFill>
                  <a:srgbClr val="6B6A64"/>
                </a:solidFill>
              </a:rPr>
              <a:t>– labels are CHD diagnoses (VSD, ASD, PDA, PFO, NORMAL), not murmurs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Pipeline and controls</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pipeline.png"/>
          <p:cNvPicPr>
            <a:picLocks noChangeAspect="1"/>
          </p:cNvPicPr>
          <p:nvPr/>
        </p:nvPicPr>
        <p:blipFill>
          <a:blip r:embed="rId3"/>
          <a:stretch>
            <a:fillRect/>
          </a:stretch>
        </p:blipFill>
        <p:spPr>
          <a:xfrm>
            <a:off x="365760" y="1731352"/>
            <a:ext cx="11430000" cy="3303854"/>
          </a:xfrm>
          <a:prstGeom prst="rect">
            <a:avLst/>
          </a:prstGeom>
        </p:spPr>
      </p:pic>
      <p:sp>
        <p:nvSpPr>
          <p:cNvPr id="5" name="TextBox 4"/>
          <p:cNvSpPr txBox="1"/>
          <p:nvPr/>
        </p:nvSpPr>
        <p:spPr>
          <a:xfrm>
            <a:off x="548640" y="5394960"/>
            <a:ext cx="11064240" cy="914400"/>
          </a:xfrm>
          <a:prstGeom prst="rect">
            <a:avLst/>
          </a:prstGeom>
          <a:noFill/>
        </p:spPr>
        <p:txBody>
          <a:bodyPr wrap="square">
            <a:spAutoFit/>
          </a:bodyPr>
          <a:lstStyle/>
          <a:p>
            <a:pPr>
              <a:spcAft>
                <a:spcPts val="800"/>
              </a:spcAft>
            </a:pPr>
            <a:r>
              <a:rPr sz="2000" b="1">
                <a:solidFill>
                  <a:srgbClr val="1F1F1E"/>
                </a:solidFill>
              </a:rPr>
              <a:t>• Segmentation: </a:t>
            </a:r>
            <a:r>
              <a:rPr sz="2000" b="0">
                <a:solidFill>
                  <a:srgbClr val="1F1F1E"/>
                </a:solidFill>
              </a:rPr>
              <a:t>expert labels (oracle), LR-HSMM, or HSMM + learned span detector (E4, E4q)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Representations: wavelet packets, STFT bands, scattering</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64240" cy="2377440"/>
          </a:xfrm>
          <a:prstGeom prst="rect">
            <a:avLst/>
          </a:prstGeom>
          <a:noFill/>
        </p:spPr>
        <p:txBody>
          <a:bodyPr wrap="square">
            <a:spAutoFit/>
          </a:bodyPr>
          <a:lstStyle/>
          <a:p>
            <a:pPr>
              <a:spcAft>
                <a:spcPts val="800"/>
              </a:spcAft>
            </a:pPr>
            <a:r>
              <a:rPr sz="2000" b="1">
                <a:solidFill>
                  <a:srgbClr val="1F1F1E"/>
                </a:solidFill>
              </a:rPr>
              <a:t>• WPD db4, depth 4: </a:t>
            </a:r>
            <a:r>
              <a:rPr sz="2000" b="0">
                <a:solidFill>
                  <a:srgbClr val="1F1F1E"/>
                </a:solidFill>
              </a:rPr>
              <a:t>16 bands of 62.5 Hz at 2 kHz (packet responses below)</a:t>
            </a:r>
          </a:p>
          <a:p>
            <a:pPr>
              <a:spcAft>
                <a:spcPts val="800"/>
              </a:spcAft>
            </a:pPr>
            <a:r>
              <a:rPr sz="2000" b="1">
                <a:solidFill>
                  <a:srgbClr val="1F1F1E"/>
                </a:solidFill>
              </a:rPr>
              <a:t>• STFT bands matched: </a:t>
            </a:r>
            <a:r>
              <a:rPr sz="2000" b="0">
                <a:solidFill>
                  <a:srgbClr val="1F1F1E"/>
                </a:solidFill>
              </a:rPr>
              <a:t>same edges, time grid and dimension</a:t>
            </a:r>
          </a:p>
          <a:p>
            <a:pPr>
              <a:spcAft>
                <a:spcPts val="800"/>
              </a:spcAft>
            </a:pPr>
            <a:r>
              <a:rPr sz="2000" b="1">
                <a:solidFill>
                  <a:srgbClr val="1F1F1E"/>
                </a:solidFill>
              </a:rPr>
              <a:t>• Scattering: </a:t>
            </a:r>
            <a:r>
              <a:rPr sz="2000" b="0">
                <a:solidFill>
                  <a:srgbClr val="1F1F1E"/>
                </a:solidFill>
              </a:rPr>
              <a:t>kymatio, J = 6, Q = (8, 1), first and second order</a:t>
            </a:r>
          </a:p>
          <a:p>
            <a:pPr>
              <a:spcAft>
                <a:spcPts val="800"/>
              </a:spcAft>
            </a:pPr>
            <a:r>
              <a:rPr sz="2000" b="1">
                <a:solidFill>
                  <a:srgbClr val="1F1F1E"/>
                </a:solidFill>
              </a:rPr>
              <a:t>• Features per band: </a:t>
            </a:r>
            <a:r>
              <a:rPr sz="2000" b="0">
                <a:solidFill>
                  <a:srgbClr val="1F1F1E"/>
                </a:solidFill>
              </a:rPr>
              <a:t>systolic vs S1, systolic vs diastolic</a:t>
            </a:r>
          </a:p>
        </p:txBody>
      </p:sp>
      <p:pic>
        <p:nvPicPr>
          <p:cNvPr id="5" name="Picture 4" descr="fig7_packet_frequency_responses.png"/>
          <p:cNvPicPr>
            <a:picLocks noChangeAspect="1"/>
          </p:cNvPicPr>
          <p:nvPr/>
        </p:nvPicPr>
        <p:blipFill>
          <a:blip r:embed="rId3"/>
          <a:stretch>
            <a:fillRect/>
          </a:stretch>
        </p:blipFill>
        <p:spPr>
          <a:xfrm>
            <a:off x="907868" y="3703320"/>
            <a:ext cx="10345782" cy="3017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WEKA: classifiers and a reproducible fold</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2377440"/>
          </a:xfrm>
          <a:prstGeom prst="rect">
            <a:avLst/>
          </a:prstGeom>
          <a:noFill/>
        </p:spPr>
        <p:txBody>
          <a:bodyPr wrap="square">
            <a:spAutoFit/>
          </a:bodyPr>
          <a:lstStyle/>
          <a:p>
            <a:pPr>
              <a:spcAft>
                <a:spcPts val="800"/>
              </a:spcAft>
            </a:pPr>
            <a:r>
              <a:rPr sz="2000" b="0">
                <a:solidFill>
                  <a:srgbClr val="1F1F1E"/>
                </a:solidFill>
              </a:rPr>
              <a:t>• RandomForest -I 300 -K 0 -S 1 (primary); SMO, linear PolyKernel (secondary)</a:t>
            </a:r>
          </a:p>
          <a:p>
            <a:pPr>
              <a:spcAft>
                <a:spcPts val="800"/>
              </a:spcAft>
            </a:pPr>
            <a:r>
              <a:rPr sz="2000" b="0">
                <a:solidFill>
                  <a:srgbClr val="1F1F1E"/>
                </a:solidFill>
              </a:rPr>
              <a:t>• Subject-grouped folds from Python, never WEKA row-wise CV</a:t>
            </a:r>
          </a:p>
          <a:p>
            <a:pPr>
              <a:spcAft>
                <a:spcPts val="800"/>
              </a:spcAft>
            </a:pPr>
            <a:r>
              <a:rPr sz="2000" b="0">
                <a:solidFill>
                  <a:srgbClr val="1F1F1E"/>
                </a:solidFill>
              </a:rPr>
              <a:t>• Demo fold A_stft r0 f0: 699 train / 175 test patients; CLI = pipeline, exactly</a:t>
            </a:r>
          </a:p>
          <a:p>
            <a:pPr>
              <a:spcAft>
                <a:spcPts val="800"/>
              </a:spcAft>
            </a:pPr>
            <a:r>
              <a:rPr sz="2000" b="0">
                <a:solidFill>
                  <a:srgbClr val="1F1F1E"/>
                </a:solidFill>
              </a:rPr>
              <a:t>• At 0.5: TN 131, FP 8, FN 19, TP 17</a:t>
            </a:r>
          </a:p>
        </p:txBody>
      </p:sp>
      <p:sp>
        <p:nvSpPr>
          <p:cNvPr id="5" name="Rounded Rectangle 4"/>
          <p:cNvSpPr/>
          <p:nvPr/>
        </p:nvSpPr>
        <p:spPr>
          <a:xfrm>
            <a:off x="548640" y="3931920"/>
            <a:ext cx="3566160" cy="256032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Preprocess tab</a:t>
            </a:r>
            <a:br/>
            <a:r>
              <a:t>1_preprocess.png</a:t>
            </a:r>
          </a:p>
        </p:txBody>
      </p:sp>
      <p:sp>
        <p:nvSpPr>
          <p:cNvPr id="6" name="Rounded Rectangle 5"/>
          <p:cNvSpPr/>
          <p:nvPr/>
        </p:nvSpPr>
        <p:spPr>
          <a:xfrm>
            <a:off x="4297679" y="3931920"/>
            <a:ext cx="3566160" cy="256032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RF options dialog</a:t>
            </a:r>
            <a:br/>
            <a:r>
              <a:t>2_rf_options.png</a:t>
            </a:r>
          </a:p>
        </p:txBody>
      </p:sp>
      <p:sp>
        <p:nvSpPr>
          <p:cNvPr id="7" name="Rounded Rectangle 6"/>
          <p:cNvSpPr/>
          <p:nvPr/>
        </p:nvSpPr>
        <p:spPr>
          <a:xfrm>
            <a:off x="8046719" y="3931920"/>
            <a:ext cx="3566160" cy="2560320"/>
          </a:xfrm>
          <a:prstGeom prst="roundRect">
            <a:avLst/>
          </a:prstGeom>
          <a:solidFill>
            <a:srgbClr val="EDEDE8"/>
          </a:solidFill>
          <a:ln>
            <a:solidFill>
              <a:srgbClr val="6B6A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6B6A64"/>
                </a:solidFill>
              </a:defRPr>
            </a:pPr>
            <a:r>
              <a:t>Screenshot placeholder</a:t>
            </a:r>
            <a:br/>
            <a:r>
              <a:t>Result buffer + confusion matrix</a:t>
            </a:r>
            <a:br/>
            <a:r>
              <a:t>3_result_buffer.png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Finding 1: timing carries the information</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decomposition.png"/>
          <p:cNvPicPr>
            <a:picLocks noChangeAspect="1"/>
          </p:cNvPicPr>
          <p:nvPr/>
        </p:nvPicPr>
        <p:blipFill>
          <a:blip r:embed="rId3"/>
          <a:stretch>
            <a:fillRect/>
          </a:stretch>
        </p:blipFill>
        <p:spPr>
          <a:xfrm>
            <a:off x="274320" y="2202508"/>
            <a:ext cx="7680960" cy="3641703"/>
          </a:xfrm>
          <a:prstGeom prst="rect">
            <a:avLst/>
          </a:prstGeom>
        </p:spPr>
      </p:pic>
      <p:sp>
        <p:nvSpPr>
          <p:cNvPr id="5" name="TextBox 4"/>
          <p:cNvSpPr txBox="1"/>
          <p:nvPr/>
        </p:nvSpPr>
        <p:spPr>
          <a:xfrm>
            <a:off x="8046720" y="1554480"/>
            <a:ext cx="3931920" cy="4937760"/>
          </a:xfrm>
          <a:prstGeom prst="rect">
            <a:avLst/>
          </a:prstGeom>
          <a:noFill/>
        </p:spPr>
        <p:txBody>
          <a:bodyPr wrap="square">
            <a:spAutoFit/>
          </a:bodyPr>
          <a:lstStyle/>
          <a:p>
            <a:pPr>
              <a:spcAft>
                <a:spcPts val="800"/>
              </a:spcAft>
            </a:pPr>
            <a:r>
              <a:rPr sz="1900" b="1">
                <a:solidFill>
                  <a:srgbClr val="1F1F1E"/>
                </a:solidFill>
              </a:rPr>
              <a:t>• Timing destroyed (perm): </a:t>
            </a:r>
            <a:r>
              <a:rPr sz="1900" b="0">
                <a:solidFill>
                  <a:srgbClr val="1F1F1E"/>
                </a:solidFill>
              </a:rPr>
              <a:t>+0.131 to +0.174</a:t>
            </a:r>
          </a:p>
          <a:p>
            <a:pPr>
              <a:spcAft>
                <a:spcPts val="800"/>
              </a:spcAft>
            </a:pPr>
            <a:r>
              <a:rPr sz="1900" b="1">
                <a:solidFill>
                  <a:srgbClr val="1F1F1E"/>
                </a:solidFill>
              </a:rPr>
              <a:t>• Shifted labels: </a:t>
            </a:r>
            <a:r>
              <a:rPr sz="1900" b="0">
                <a:solidFill>
                  <a:srgbClr val="1F1F1E"/>
                </a:solidFill>
              </a:rPr>
              <a:t>+0.192 to +0.206</a:t>
            </a:r>
          </a:p>
          <a:p>
            <a:pPr>
              <a:spcAft>
                <a:spcPts val="800"/>
              </a:spcAft>
            </a:pPr>
            <a:r>
              <a:rPr sz="1900" b="1">
                <a:solidFill>
                  <a:srgbClr val="1F1F1E"/>
                </a:solidFill>
              </a:rPr>
              <a:t>• Within-span timing: </a:t>
            </a:r>
            <a:r>
              <a:rPr sz="1900" b="0">
                <a:solidFill>
                  <a:srgbClr val="1F1F1E"/>
                </a:solidFill>
              </a:rPr>
              <a:t>+0.169 to +0.193</a:t>
            </a:r>
          </a:p>
          <a:p>
            <a:pPr>
              <a:spcAft>
                <a:spcPts val="800"/>
              </a:spcAft>
            </a:pPr>
            <a:r>
              <a:rPr sz="1900" b="0">
                <a:solidFill>
                  <a:srgbClr val="1F1F1E"/>
                </a:solidFill>
              </a:rPr>
              <a:t>• Span choice without timing: −0.062 to −0.020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Finding 2: the transform does not matter</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wavelet.png"/>
          <p:cNvPicPr>
            <a:picLocks noChangeAspect="1"/>
          </p:cNvPicPr>
          <p:nvPr/>
        </p:nvPicPr>
        <p:blipFill>
          <a:blip r:embed="rId3"/>
          <a:stretch>
            <a:fillRect/>
          </a:stretch>
        </p:blipFill>
        <p:spPr>
          <a:xfrm>
            <a:off x="274320" y="2201700"/>
            <a:ext cx="7498079" cy="3643318"/>
          </a:xfrm>
          <a:prstGeom prst="rect">
            <a:avLst/>
          </a:prstGeom>
        </p:spPr>
      </p:pic>
      <p:sp>
        <p:nvSpPr>
          <p:cNvPr id="5" name="TextBox 4"/>
          <p:cNvSpPr txBox="1"/>
          <p:nvPr/>
        </p:nvSpPr>
        <p:spPr>
          <a:xfrm>
            <a:off x="7863840" y="1554480"/>
            <a:ext cx="4114800" cy="4937760"/>
          </a:xfrm>
          <a:prstGeom prst="rect">
            <a:avLst/>
          </a:prstGeom>
          <a:noFill/>
        </p:spPr>
        <p:txBody>
          <a:bodyPr wrap="square">
            <a:spAutoFit/>
          </a:bodyPr>
          <a:lstStyle/>
          <a:p>
            <a:pPr>
              <a:spcAft>
                <a:spcPts val="800"/>
              </a:spcAft>
            </a:pPr>
            <a:r>
              <a:rPr sz="1900" b="1">
                <a:solidFill>
                  <a:srgbClr val="1F1F1E"/>
                </a:solidFill>
              </a:rPr>
              <a:t>• WPD − STFT: </a:t>
            </a:r>
            <a:r>
              <a:rPr sz="1900" b="0">
                <a:solidFill>
                  <a:srgbClr val="1F1F1E"/>
                </a:solidFill>
              </a:rPr>
              <a:t>−0.042 to +0.003</a:t>
            </a:r>
          </a:p>
          <a:p>
            <a:pPr>
              <a:spcAft>
                <a:spcPts val="800"/>
              </a:spcAft>
            </a:pPr>
            <a:r>
              <a:rPr sz="1900" b="0">
                <a:solidFill>
                  <a:srgbClr val="1F1F1E"/>
                </a:solidFill>
              </a:rPr>
              <a:t>• Scattering − STFT (H11a): −0.026 [−0.058, +0.005]</a:t>
            </a:r>
          </a:p>
          <a:p>
            <a:pPr>
              <a:spcAft>
                <a:spcPts val="800"/>
              </a:spcAft>
            </a:pPr>
            <a:r>
              <a:rPr sz="1900" b="0">
                <a:solidFill>
                  <a:srgbClr val="1F1F1E"/>
                </a:solidFill>
              </a:rPr>
              <a:t>• 2nd − 1st order (H11c): +0.013 [+0.001, +0.025]</a:t>
            </a:r>
          </a:p>
          <a:p>
            <a:pPr>
              <a:spcAft>
                <a:spcPts val="800"/>
              </a:spcAft>
            </a:pPr>
            <a:r>
              <a:rPr sz="1900" b="0">
                <a:solidFill>
                  <a:srgbClr val="1F1F1E"/>
                </a:solidFill>
              </a:rPr>
              <a:t>• No wavelet advantage anywhere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Automatic pipeline and the shortcut check</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100" b="1">
                <a:solidFill>
                  <a:srgbClr val="1F1F1E"/>
                </a:solidFill>
              </a:rPr>
              <a:t>• E4 vs expert labels (H9a): </a:t>
            </a:r>
            <a:r>
              <a:rPr sz="2100" b="0">
                <a:solidFill>
                  <a:srgbClr val="1F1F1E"/>
                </a:solidFill>
              </a:rPr>
              <a:t>−0.007 to −0.005; rule met, non-inferiority not established</a:t>
            </a:r>
          </a:p>
          <a:p>
            <a:pPr>
              <a:spcAft>
                <a:spcPts val="800"/>
              </a:spcAft>
            </a:pPr>
            <a:r>
              <a:rPr sz="2100" b="1">
                <a:solidFill>
                  <a:srgbClr val="1F1F1E"/>
                </a:solidFill>
              </a:rPr>
              <a:t>• E4 vs B1 (H9b): </a:t>
            </a:r>
            <a:r>
              <a:rPr sz="2100" b="0">
                <a:solidFill>
                  <a:srgbClr val="1F1F1E"/>
                </a:solidFill>
              </a:rPr>
              <a:t>+0.065 to +0.083</a:t>
            </a:r>
          </a:p>
          <a:p>
            <a:pPr>
              <a:spcAft>
                <a:spcPts val="800"/>
              </a:spcAft>
            </a:pPr>
            <a:r>
              <a:rPr sz="2100" b="0">
                <a:solidFill>
                  <a:srgbClr val="1F1F1E"/>
                </a:solidFill>
              </a:rPr>
              <a:t>• Span fraction alone predicts the class: AUROC 0.646</a:t>
            </a:r>
          </a:p>
          <a:p>
            <a:pPr>
              <a:spcAft>
                <a:spcPts val="800"/>
              </a:spcAft>
            </a:pPr>
            <a:r>
              <a:rPr sz="2100" b="0">
                <a:solidFill>
                  <a:srgbClr val="1F1F1E"/>
                </a:solidFill>
              </a:rPr>
              <a:t>• E4q removes it: shortcut alone 0.482; missing features 15.8 % → 0.6 % (Absent)</a:t>
            </a:r>
          </a:p>
          <a:p>
            <a:pPr>
              <a:spcAft>
                <a:spcPts val="800"/>
              </a:spcAft>
            </a:pPr>
            <a:r>
              <a:rPr sz="2100" b="1">
                <a:solidFill>
                  <a:srgbClr val="1F1F1E"/>
                </a:solidFill>
              </a:rPr>
              <a:t>• E4q vs random windows (H12b): </a:t>
            </a:r>
            <a:r>
              <a:rPr sz="2100" b="0">
                <a:solidFill>
                  <a:srgbClr val="1F1F1E"/>
                </a:solidFill>
              </a:rPr>
              <a:t>+0.066 [+0.030, +0.100]</a:t>
            </a:r>
          </a:p>
          <a:p>
            <a:pPr>
              <a:spcAft>
                <a:spcPts val="800"/>
              </a:spcAft>
            </a:pPr>
            <a:r>
              <a:rPr sz="2100" b="1">
                <a:solidFill>
                  <a:srgbClr val="1F1F1E"/>
                </a:solidFill>
              </a:rPr>
              <a:t>• E4q vs STFT + span info (H12a): </a:t>
            </a:r>
            <a:r>
              <a:rPr sz="2100" b="0">
                <a:solidFill>
                  <a:srgbClr val="1F1F1E"/>
                </a:solidFill>
              </a:rPr>
              <a:t>+0.046 [−0.001, +0.093] → not established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Finding 3: external AUROC 0.709 with the physiological order</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_external.png"/>
          <p:cNvPicPr>
            <a:picLocks noChangeAspect="1"/>
          </p:cNvPicPr>
          <p:nvPr/>
        </p:nvPicPr>
        <p:blipFill>
          <a:blip r:embed="rId3"/>
          <a:stretch>
            <a:fillRect/>
          </a:stretch>
        </p:blipFill>
        <p:spPr>
          <a:xfrm>
            <a:off x="274320" y="1626320"/>
            <a:ext cx="7863840" cy="3513919"/>
          </a:xfrm>
          <a:prstGeom prst="rect">
            <a:avLst/>
          </a:prstGeom>
        </p:spPr>
      </p:pic>
      <p:sp>
        <p:nvSpPr>
          <p:cNvPr id="5" name="TextBox 4"/>
          <p:cNvSpPr txBox="1"/>
          <p:nvPr/>
        </p:nvSpPr>
        <p:spPr>
          <a:xfrm>
            <a:off x="8229600" y="1554480"/>
            <a:ext cx="3749039" cy="4572000"/>
          </a:xfrm>
          <a:prstGeom prst="rect">
            <a:avLst/>
          </a:prstGeom>
          <a:noFill/>
        </p:spPr>
        <p:txBody>
          <a:bodyPr wrap="square">
            <a:spAutoFit/>
          </a:bodyPr>
          <a:lstStyle/>
          <a:p>
            <a:pPr>
              <a:spcAft>
                <a:spcPts val="800"/>
              </a:spcAft>
            </a:pPr>
            <a:r>
              <a:rPr sz="1900" b="1">
                <a:solidFill>
                  <a:srgbClr val="1F1F1E"/>
                </a:solidFill>
              </a:rPr>
              <a:t>• Clean set (H10a): </a:t>
            </a:r>
            <a:r>
              <a:rPr sz="1900" b="0">
                <a:solidFill>
                  <a:srgbClr val="1F1F1E"/>
                </a:solidFill>
              </a:rPr>
              <a:t>0.709 [0.675, 0.741]</a:t>
            </a:r>
          </a:p>
          <a:p>
            <a:pPr>
              <a:spcAft>
                <a:spcPts val="800"/>
              </a:spcAft>
            </a:pPr>
            <a:r>
              <a:rPr sz="1900" b="0">
                <a:solidFill>
                  <a:srgbClr val="1F1F1E"/>
                </a:solidFill>
              </a:rPr>
              <a:t>• VSD − PFO (H10b): +0.263 [+0.180, +0.343]</a:t>
            </a:r>
          </a:p>
          <a:p>
            <a:pPr>
              <a:spcAft>
                <a:spcPts val="800"/>
              </a:spcAft>
            </a:pPr>
            <a:r>
              <a:rPr sz="1900" b="0">
                <a:solidFill>
                  <a:srgbClr val="1F1F1E"/>
                </a:solidFill>
              </a:rPr>
              <a:t>• VSD − ASD: +0.126 [+0.064, +0.184]</a:t>
            </a:r>
          </a:p>
          <a:p>
            <a:pPr>
              <a:spcAft>
                <a:spcPts val="800"/>
              </a:spcAft>
            </a:pPr>
            <a:r>
              <a:rPr sz="1900" b="0">
                <a:solidFill>
                  <a:srgbClr val="1F1F1E"/>
                </a:solidFill>
              </a:rPr>
              <a:t>• Noisy neonates: 0.535 (chance)</a:t>
            </a:r>
          </a:p>
        </p:txBody>
      </p:sp>
      <p:sp>
        <p:nvSpPr>
          <p:cNvPr id="6" name="TextBox 5"/>
          <p:cNvSpPr txBox="1"/>
          <p:nvPr/>
        </p:nvSpPr>
        <p:spPr>
          <a:xfrm>
            <a:off x="548640" y="5577840"/>
            <a:ext cx="11064240" cy="822960"/>
          </a:xfrm>
          <a:prstGeom prst="rect">
            <a:avLst/>
          </a:prstGeom>
          <a:noFill/>
        </p:spPr>
        <p:txBody>
          <a:bodyPr wrap="square">
            <a:spAutoFit/>
          </a:bodyPr>
          <a:lstStyle/>
          <a:p>
            <a:pPr>
              <a:spcAft>
                <a:spcPts val="800"/>
              </a:spcAft>
            </a:pPr>
            <a:r>
              <a:rPr sz="1800" b="0">
                <a:solidFill>
                  <a:srgbClr val="1F1F1E"/>
                </a:solidFill>
              </a:rPr>
              <a:t>• Labels are CHD diagnoses, not murmurs; age does not explain the result (post-hoc check)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Comparison with recent work</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64240" cy="4754880"/>
          </a:xfrm>
          <a:prstGeom prst="rect">
            <a:avLst/>
          </a:prstGeom>
          <a:noFill/>
        </p:spPr>
        <p:txBody>
          <a:bodyPr wrap="square">
            <a:spAutoFit/>
          </a:bodyPr>
          <a:lstStyle/>
          <a:p>
            <a:pPr>
              <a:spcAft>
                <a:spcPts val="800"/>
              </a:spcAft>
            </a:pPr>
            <a:r>
              <a:rPr sz="2200" b="1">
                <a:solidFill>
                  <a:srgbClr val="1F1F1E"/>
                </a:solidFill>
              </a:rPr>
              <a:t>• Nogueira et al. 2026: </a:t>
            </a:r>
            <a:r>
              <a:rPr sz="2200" b="0">
                <a:solidFill>
                  <a:srgbClr val="1F1F1E"/>
                </a:solidFill>
              </a:rPr>
              <a:t>(Se+Sp)/2 = 0.965, test segments start at expert S1 labels</a:t>
            </a:r>
          </a:p>
          <a:p>
            <a:pPr>
              <a:spcAft>
                <a:spcPts val="800"/>
              </a:spcAft>
            </a:pPr>
            <a:r>
              <a:rPr sz="2200" b="0">
                <a:solidFill>
                  <a:srgbClr val="1F1F1E"/>
                </a:solidFill>
              </a:rPr>
              <a:t>• Ours on the same scale (expert labels): 0.736; E4 0.739</a:t>
            </a:r>
          </a:p>
          <a:p>
            <a:pPr>
              <a:spcAft>
                <a:spcPts val="800"/>
              </a:spcAft>
            </a:pPr>
            <a:r>
              <a:rPr sz="2200" b="0">
                <a:solidFill>
                  <a:srgbClr val="1F1F1E"/>
                </a:solidFill>
              </a:rPr>
              <a:t>• Nie et al. 2024: 97.49 % on 5-s snippets from annotated periods</a:t>
            </a:r>
          </a:p>
          <a:p>
            <a:pPr>
              <a:spcAft>
                <a:spcPts val="800"/>
              </a:spcAft>
            </a:pPr>
            <a:r>
              <a:rPr sz="2200" b="0">
                <a:solidFill>
                  <a:srgbClr val="1F1F1E"/>
                </a:solidFill>
              </a:rPr>
              <a:t>• Oracle conditioning is worth up to 0.106 AUROC in our data</a:t>
            </a:r>
          </a:p>
          <a:p>
            <a:pPr>
              <a:spcAft>
                <a:spcPts val="800"/>
              </a:spcAft>
            </a:pPr>
            <a:r>
              <a:rPr sz="2200" b="0">
                <a:solidFill>
                  <a:srgbClr val="1F1F1E"/>
                </a:solidFill>
              </a:rPr>
              <a:t>• Kutlu &amp; Çolak 2026 already validate CirCor models externally (CinC 2016, Yaseen)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Limitations (all negatives reported)</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100" b="0">
                <a:solidFill>
                  <a:srgbClr val="1F1F1E"/>
                </a:solidFill>
              </a:rPr>
              <a:t>• H12a not established: +0.046 [−0.001, +0.093]</a:t>
            </a:r>
          </a:p>
          <a:p>
            <a:pPr>
              <a:spcAft>
                <a:spcPts val="800"/>
              </a:spcAft>
            </a:pPr>
            <a:r>
              <a:rPr sz="2100" b="0">
                <a:solidFill>
                  <a:srgbClr val="1F1F1E"/>
                </a:solidFill>
              </a:rPr>
              <a:t>• Noisy neonatal recordings: every model at chance</a:t>
            </a:r>
          </a:p>
          <a:p>
            <a:pPr>
              <a:spcAft>
                <a:spcPts val="800"/>
              </a:spcAft>
            </a:pPr>
            <a:r>
              <a:rPr sz="2100" b="0">
                <a:solidFill>
                  <a:srgbClr val="1F1F1E"/>
                </a:solidFill>
              </a:rPr>
              <a:t>• Scattering (G4) negative; SMO unstable on scattering features</a:t>
            </a:r>
          </a:p>
          <a:p>
            <a:pPr>
              <a:spcAft>
                <a:spcPts val="800"/>
              </a:spcAft>
            </a:pPr>
            <a:r>
              <a:rPr sz="2100" b="0">
                <a:solidFill>
                  <a:srgbClr val="1F1F1E"/>
                </a:solidFill>
              </a:rPr>
              <a:t>• ZCHSound labels are CHD, not murmur; PFO at chance</a:t>
            </a:r>
          </a:p>
          <a:p>
            <a:pPr>
              <a:spcAft>
                <a:spcPts val="800"/>
              </a:spcAft>
            </a:pPr>
            <a:r>
              <a:rPr sz="2100" b="0">
                <a:solidFill>
                  <a:srgbClr val="1F1F1E"/>
                </a:solidFill>
              </a:rPr>
              <a:t>• No CirCor hidden test set; Unknown class excluded</a:t>
            </a:r>
          </a:p>
          <a:p>
            <a:pPr>
              <a:spcAft>
                <a:spcPts val="800"/>
              </a:spcAft>
            </a:pPr>
            <a:r>
              <a:rPr sz="2100" b="0">
                <a:solidFill>
                  <a:srgbClr val="1F1F1E"/>
                </a:solidFill>
              </a:rPr>
              <a:t>• E1b, E4, S1 and Phase 3 designed after earlier results on the same folds</a:t>
            </a:r>
          </a:p>
          <a:p>
            <a:pPr>
              <a:spcAft>
                <a:spcPts val="800"/>
              </a:spcAft>
            </a:pPr>
            <a:r>
              <a:rPr sz="2100" b="0">
                <a:solidFill>
                  <a:srgbClr val="1F1F1E"/>
                </a:solidFill>
              </a:rPr>
              <a:t>• B0's external score is an artefact (recording characteristics)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Conclusion</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400" b="0">
                <a:solidFill>
                  <a:srgbClr val="1F1F1E"/>
                </a:solidFill>
              </a:rPr>
              <a:t>• Cardiac-cycle </a:t>
            </a:r>
            <a:r>
              <a:rPr sz="2400" b="1">
                <a:solidFill>
                  <a:srgbClr val="1F1F1E"/>
                </a:solidFill>
              </a:rPr>
              <a:t>timing</a:t>
            </a:r>
            <a:r>
              <a:rPr sz="2400" b="0">
                <a:solidFill>
                  <a:srgbClr val="1F1F1E"/>
                </a:solidFill>
              </a:rPr>
              <a:t> carries the murmur information</a:t>
            </a:r>
          </a:p>
          <a:p>
            <a:pPr>
              <a:spcAft>
                <a:spcPts val="800"/>
              </a:spcAft>
            </a:pPr>
            <a:r>
              <a:rPr sz="2400" b="0">
                <a:solidFill>
                  <a:srgbClr val="1F1F1E"/>
                </a:solidFill>
              </a:rPr>
              <a:t>• The </a:t>
            </a:r>
            <a:r>
              <a:rPr sz="2400" b="1">
                <a:solidFill>
                  <a:srgbClr val="1F1F1E"/>
                </a:solidFill>
              </a:rPr>
              <a:t>transform</a:t>
            </a:r>
            <a:r>
              <a:rPr sz="2400" b="0">
                <a:solidFill>
                  <a:srgbClr val="1F1F1E"/>
                </a:solidFill>
              </a:rPr>
              <a:t> (WPD, STFT, scattering) does not matter</a:t>
            </a:r>
          </a:p>
          <a:p>
            <a:pPr>
              <a:spcAft>
                <a:spcPts val="800"/>
              </a:spcAft>
            </a:pPr>
            <a:r>
              <a:rPr sz="2400" b="0">
                <a:solidFill>
                  <a:srgbClr val="1F1F1E"/>
                </a:solidFill>
              </a:rPr>
              <a:t>• External transfer to paediatric CHD with the </a:t>
            </a:r>
            <a:r>
              <a:rPr sz="2400" b="1">
                <a:solidFill>
                  <a:srgbClr val="1F1F1E"/>
                </a:solidFill>
              </a:rPr>
              <a:t>physiological order</a:t>
            </a:r>
            <a:r>
              <a:rPr sz="2400" b="0">
                <a:solidFill>
                  <a:srgbClr val="1F1F1E"/>
                </a:solidFill>
              </a:rPr>
              <a:t/>
            </a:r>
          </a:p>
          <a:p>
            <a:pPr>
              <a:spcAft>
                <a:spcPts val="800"/>
              </a:spcAft>
            </a:pPr>
            <a:r>
              <a:rPr sz="2400" b="0">
                <a:solidFill>
                  <a:srgbClr val="1F1F1E"/>
                </a:solidFill>
              </a:rPr>
              <a:t>• Next: quality gating, learned models under the same protocol, murmur-labelled external data</a:t>
            </a:r>
          </a:p>
          <a:p>
            <a:pPr>
              <a:spcAft>
                <a:spcPts val="800"/>
              </a:spcAft>
            </a:pPr>
            <a:r>
              <a:rPr sz="2400" b="0">
                <a:solidFill>
                  <a:srgbClr val="1F1F1E"/>
                </a:solidFill>
              </a:rPr>
              <a:t>• Future: a systematic audit of test-time expert segmentation in published CirCor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Reproducibility</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4937760"/>
          </a:xfrm>
          <a:prstGeom prst="rect">
            <a:avLst/>
          </a:prstGeom>
          <a:noFill/>
        </p:spPr>
        <p:txBody>
          <a:bodyPr wrap="square">
            <a:spAutoFit/>
          </a:bodyPr>
          <a:lstStyle/>
          <a:p>
            <a:pPr>
              <a:spcAft>
                <a:spcPts val="800"/>
              </a:spcAft>
            </a:pPr>
            <a:r>
              <a:rPr sz="2100" b="0">
                <a:solidFill>
                  <a:srgbClr val="1F1F1E"/>
                </a:solidFill>
              </a:rPr>
              <a:t>• Pre-registration tags: v1.0-pilot, protocol-v2-lock, e1b/diag/e4/s1-prereg; protocol-v3-prereg in the cloud-sandbox history</a:t>
            </a:r>
          </a:p>
          <a:p>
            <a:pPr>
              <a:spcAft>
                <a:spcPts val="800"/>
              </a:spcAft>
            </a:pPr>
            <a:r>
              <a:rPr sz="2100" b="0">
                <a:solidFill>
                  <a:srgbClr val="1F1F1E"/>
                </a:solidFill>
              </a:rPr>
              <a:t>• Frozen results: results-final and phase3-results, with SHA-256 manifests</a:t>
            </a:r>
          </a:p>
          <a:p>
            <a:pPr>
              <a:spcAft>
                <a:spcPts val="800"/>
              </a:spcAft>
            </a:pPr>
            <a:r>
              <a:rPr sz="2100" b="0">
                <a:solidFill>
                  <a:srgbClr val="1F1F1E"/>
                </a:solidFill>
              </a:rPr>
              <a:t>• Linux (Phase 1) reproduced on macOS; WEKA CLI = pipeline exactly</a:t>
            </a:r>
          </a:p>
          <a:p>
            <a:pPr>
              <a:spcAft>
                <a:spcPts val="800"/>
              </a:spcAft>
            </a:pPr>
            <a:r>
              <a:rPr sz="2100" b="0">
                <a:solidFill>
                  <a:srgbClr val="1F1F1E"/>
                </a:solidFill>
              </a:rPr>
              <a:t>• Numbers registry: scripts/p4_numbers.py; check: scripts/p4_check_numbers.py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defRPr sz="3400" b="1">
                <a:solidFill>
                  <a:srgbClr val="1F1F1E"/>
                </a:solidFill>
              </a:defRPr>
            </a:pPr>
            <a:r>
              <a:t>Backup: every pre-registered hypothesis (RF)</a:t>
            </a:r>
          </a:p>
        </p:txBody>
      </p:sp>
      <p:sp>
        <p:nvSpPr>
          <p:cNvPr id="3" name="Rectangle 2"/>
          <p:cNvSpPr/>
          <p:nvPr/>
        </p:nvSpPr>
        <p:spPr>
          <a:xfrm>
            <a:off x="548640" y="1188720"/>
            <a:ext cx="1097280"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64240" cy="4937760"/>
        </p:xfrm>
        <a:graphic>
          <a:graphicData uri="http://schemas.openxmlformats.org/drawingml/2006/table">
            <a:tbl>
              <a:tblPr firstRow="1" bandRow="1">
                <a:tableStyleId>{5C22544A-7EE6-4342-B048-85BDC9FD1C3A}</a:tableStyleId>
              </a:tblPr>
              <a:tblGrid>
                <a:gridCol w="1280160"/>
                <a:gridCol w="3840480"/>
                <a:gridCol w="3840480"/>
                <a:gridCol w="2103120"/>
              </a:tblGrid>
              <a:tr h="379827">
                <a:tc>
                  <a:txBody>
                    <a:bodyPr/>
                    <a:lstStyle/>
                    <a:p>
                      <a:pPr>
                        <a:spcBef>
                          <a:spcPts val="0"/>
                        </a:spcBef>
                        <a:spcAft>
                          <a:spcPts val="0"/>
                        </a:spcAft>
                        <a:defRPr sz="1800" b="1"/>
                      </a:pPr>
                      <a:r>
                        <a:t>Hyp.</a:t>
                      </a:r>
                    </a:p>
                  </a:txBody>
                  <a:tcPr marT="18288" marB="18288"/>
                </a:tc>
                <a:tc>
                  <a:txBody>
                    <a:bodyPr/>
                    <a:lstStyle/>
                    <a:p>
                      <a:pPr>
                        <a:spcBef>
                          <a:spcPts val="0"/>
                        </a:spcBef>
                        <a:spcAft>
                          <a:spcPts val="0"/>
                        </a:spcAft>
                        <a:defRPr sz="1800" b="1"/>
                      </a:pPr>
                      <a:r>
                        <a:t>Contrast</a:t>
                      </a:r>
                    </a:p>
                  </a:txBody>
                  <a:tcPr marT="18288" marB="18288"/>
                </a:tc>
                <a:tc>
                  <a:txBody>
                    <a:bodyPr/>
                    <a:lstStyle/>
                    <a:p>
                      <a:pPr>
                        <a:spcBef>
                          <a:spcPts val="0"/>
                        </a:spcBef>
                        <a:spcAft>
                          <a:spcPts val="0"/>
                        </a:spcAft>
                        <a:defRPr sz="1800" b="1"/>
                      </a:pPr>
                      <a:r>
                        <a:t>Δ AUROC</a:t>
                      </a:r>
                    </a:p>
                  </a:txBody>
                  <a:tcPr marT="18288" marB="18288"/>
                </a:tc>
                <a:tc>
                  <a:txBody>
                    <a:bodyPr/>
                    <a:lstStyle/>
                    <a:p>
                      <a:pPr>
                        <a:spcBef>
                          <a:spcPts val="0"/>
                        </a:spcBef>
                        <a:spcAft>
                          <a:spcPts val="0"/>
                        </a:spcAft>
                        <a:defRPr sz="1800" b="1"/>
                      </a:pPr>
                      <a:r>
                        <a:t>Verdict</a:t>
                      </a:r>
                    </a:p>
                  </a:txBody>
                  <a:tcPr marT="18288" marB="18288"/>
                </a:tc>
              </a:tr>
              <a:tr h="379827">
                <a:tc>
                  <a:txBody>
                    <a:bodyPr/>
                    <a:lstStyle/>
                    <a:p>
                      <a:pPr>
                        <a:spcBef>
                          <a:spcPts val="0"/>
                        </a:spcBef>
                        <a:spcAft>
                          <a:spcPts val="0"/>
                        </a:spcAft>
                        <a:defRPr sz="1800" b="0"/>
                      </a:pPr>
                      <a:r>
                        <a:t>H2a/b</a:t>
                      </a:r>
                    </a:p>
                  </a:txBody>
                  <a:tcPr marT="18288" marB="18288"/>
                </a:tc>
                <a:tc>
                  <a:txBody>
                    <a:bodyPr/>
                    <a:lstStyle/>
                    <a:p>
                      <a:pPr>
                        <a:spcBef>
                          <a:spcPts val="0"/>
                        </a:spcBef>
                        <a:spcAft>
                          <a:spcPts val="0"/>
                        </a:spcAft>
                        <a:defRPr sz="1800" b="0"/>
                      </a:pPr>
                      <a:r>
                        <a:t>WPD − STFT (aligned / whole)</a:t>
                      </a:r>
                    </a:p>
                  </a:txBody>
                  <a:tcPr marT="18288" marB="18288"/>
                </a:tc>
                <a:tc>
                  <a:txBody>
                    <a:bodyPr/>
                    <a:lstStyle/>
                    <a:p>
                      <a:pPr>
                        <a:spcBef>
                          <a:spcPts val="0"/>
                        </a:spcBef>
                        <a:spcAft>
                          <a:spcPts val="0"/>
                        </a:spcAft>
                        <a:defRPr sz="1800" b="0"/>
                      </a:pPr>
                      <a:r>
                        <a:t>−0.017 / −0.066</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H3</a:t>
                      </a:r>
                    </a:p>
                  </a:txBody>
                  <a:tcPr marT="18288" marB="18288"/>
                </a:tc>
                <a:tc>
                  <a:txBody>
                    <a:bodyPr/>
                    <a:lstStyle/>
                    <a:p>
                      <a:pPr>
                        <a:spcBef>
                          <a:spcPts val="0"/>
                        </a:spcBef>
                        <a:spcAft>
                          <a:spcPts val="0"/>
                        </a:spcAft>
                        <a:defRPr sz="1800" b="0"/>
                      </a:pPr>
                      <a:r>
                        <a:t>aligned − whole WPD</a:t>
                      </a:r>
                    </a:p>
                  </a:txBody>
                  <a:tcPr marT="18288" marB="18288"/>
                </a:tc>
                <a:tc>
                  <a:txBody>
                    <a:bodyPr/>
                    <a:lstStyle/>
                    <a:p>
                      <a:pPr>
                        <a:spcBef>
                          <a:spcPts val="0"/>
                        </a:spcBef>
                        <a:spcAft>
                          <a:spcPts val="0"/>
                        </a:spcAft>
                        <a:defRPr sz="1800" b="0"/>
                      </a:pPr>
                      <a:r>
                        <a:t>+0.113</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H4a/b</a:t>
                      </a:r>
                    </a:p>
                  </a:txBody>
                  <a:tcPr marT="18288" marB="18288"/>
                </a:tc>
                <a:tc>
                  <a:txBody>
                    <a:bodyPr/>
                    <a:lstStyle/>
                    <a:p>
                      <a:pPr>
                        <a:spcBef>
                          <a:spcPts val="0"/>
                        </a:spcBef>
                        <a:spcAft>
                          <a:spcPts val="0"/>
                        </a:spcAft>
                        <a:defRPr sz="1800" b="0"/>
                      </a:pPr>
                      <a:r>
                        <a:t>aligned WPD − B0 / B1</a:t>
                      </a:r>
                    </a:p>
                  </a:txBody>
                  <a:tcPr marT="18288" marB="18288"/>
                </a:tc>
                <a:tc>
                  <a:txBody>
                    <a:bodyPr/>
                    <a:lstStyle/>
                    <a:p>
                      <a:pPr>
                        <a:spcBef>
                          <a:spcPts val="0"/>
                        </a:spcBef>
                        <a:spcAft>
                          <a:spcPts val="0"/>
                        </a:spcAft>
                        <a:defRPr sz="1800" b="0"/>
                      </a:pPr>
                      <a:r>
                        <a:t>+0.051 / +0.072</a:t>
                      </a:r>
                    </a:p>
                  </a:txBody>
                  <a:tcPr marT="18288" marB="18288"/>
                </a:tc>
                <a:tc>
                  <a:txBody>
                    <a:bodyPr/>
                    <a:lstStyle/>
                    <a:p>
                      <a:pPr>
                        <a:spcBef>
                          <a:spcPts val="0"/>
                        </a:spcBef>
                        <a:spcAft>
                          <a:spcPts val="0"/>
                        </a:spcAft>
                        <a:defRPr sz="1800" b="0"/>
                      </a:pPr>
                      <a:r>
                        <a:t>no / supported</a:t>
                      </a:r>
                    </a:p>
                  </a:txBody>
                  <a:tcPr marT="18288" marB="18288"/>
                </a:tc>
              </a:tr>
              <a:tr h="379827">
                <a:tc>
                  <a:txBody>
                    <a:bodyPr/>
                    <a:lstStyle/>
                    <a:p>
                      <a:pPr>
                        <a:spcBef>
                          <a:spcPts val="0"/>
                        </a:spcBef>
                        <a:spcAft>
                          <a:spcPts val="0"/>
                        </a:spcAft>
                        <a:defRPr sz="1800" b="0"/>
                      </a:pPr>
                      <a:r>
                        <a:t>H5a–d</a:t>
                      </a:r>
                    </a:p>
                  </a:txBody>
                  <a:tcPr marT="18288" marB="18288"/>
                </a:tc>
                <a:tc>
                  <a:txBody>
                    <a:bodyPr/>
                    <a:lstStyle/>
                    <a:p>
                      <a:pPr>
                        <a:spcBef>
                          <a:spcPts val="0"/>
                        </a:spcBef>
                        <a:spcAft>
                          <a:spcPts val="0"/>
                        </a:spcAft>
                        <a:defRPr sz="1800" b="0"/>
                      </a:pPr>
                      <a:r>
                        <a:t>expert − timing destroyed</a:t>
                      </a:r>
                    </a:p>
                  </a:txBody>
                  <a:tcPr marT="18288" marB="18288"/>
                </a:tc>
                <a:tc>
                  <a:txBody>
                    <a:bodyPr/>
                    <a:lstStyle/>
                    <a:p>
                      <a:pPr>
                        <a:spcBef>
                          <a:spcPts val="0"/>
                        </a:spcBef>
                        <a:spcAft>
                          <a:spcPts val="0"/>
                        </a:spcAft>
                        <a:defRPr sz="1800" b="0"/>
                      </a:pPr>
                      <a:r>
                        <a:t>+0.131 to +0.206</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H6, H8</a:t>
                      </a:r>
                    </a:p>
                  </a:txBody>
                  <a:tcPr marT="18288" marB="18288"/>
                </a:tc>
                <a:tc>
                  <a:txBody>
                    <a:bodyPr/>
                    <a:lstStyle/>
                    <a:p>
                      <a:pPr>
                        <a:spcBef>
                          <a:spcPts val="0"/>
                        </a:spcBef>
                        <a:spcAft>
                          <a:spcPts val="0"/>
                        </a:spcAft>
                        <a:defRPr sz="1800" b="0"/>
                      </a:pPr>
                      <a:r>
                        <a:t>naive / HSMM − expert</a:t>
                      </a:r>
                    </a:p>
                  </a:txBody>
                  <a:tcPr marT="18288" marB="18288"/>
                </a:tc>
                <a:tc>
                  <a:txBody>
                    <a:bodyPr/>
                    <a:lstStyle/>
                    <a:p>
                      <a:pPr>
                        <a:spcBef>
                          <a:spcPts val="0"/>
                        </a:spcBef>
                        <a:spcAft>
                          <a:spcPts val="0"/>
                        </a:spcAft>
                        <a:defRPr sz="1800" b="0"/>
                      </a:pPr>
                      <a:r>
                        <a:t>−0.106 to −0.062</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H9a/b</a:t>
                      </a:r>
                    </a:p>
                  </a:txBody>
                  <a:tcPr marT="18288" marB="18288"/>
                </a:tc>
                <a:tc>
                  <a:txBody>
                    <a:bodyPr/>
                    <a:lstStyle/>
                    <a:p>
                      <a:pPr>
                        <a:spcBef>
                          <a:spcPts val="0"/>
                        </a:spcBef>
                        <a:spcAft>
                          <a:spcPts val="0"/>
                        </a:spcAft>
                        <a:defRPr sz="1800" b="0"/>
                      </a:pPr>
                      <a:r>
                        <a:t>E4 − expert / B1</a:t>
                      </a:r>
                    </a:p>
                  </a:txBody>
                  <a:tcPr marT="18288" marB="18288"/>
                </a:tc>
                <a:tc>
                  <a:txBody>
                    <a:bodyPr/>
                    <a:lstStyle/>
                    <a:p>
                      <a:pPr>
                        <a:spcBef>
                          <a:spcPts val="0"/>
                        </a:spcBef>
                        <a:spcAft>
                          <a:spcPts val="0"/>
                        </a:spcAft>
                        <a:defRPr sz="1800" b="0"/>
                      </a:pPr>
                      <a:r>
                        <a:t>−0.007 to −0.005 / +0.065 to +0.083</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H9c</a:t>
                      </a:r>
                    </a:p>
                  </a:txBody>
                  <a:tcPr marT="18288" marB="18288"/>
                </a:tc>
                <a:tc>
                  <a:txBody>
                    <a:bodyPr/>
                    <a:lstStyle/>
                    <a:p>
                      <a:pPr>
                        <a:spcBef>
                          <a:spcPts val="0"/>
                        </a:spcBef>
                        <a:spcAft>
                          <a:spcPts val="0"/>
                        </a:spcAft>
                        <a:defRPr sz="1800" b="0"/>
                      </a:pPr>
                      <a:r>
                        <a:t>E4 − W_stft</a:t>
                      </a:r>
                    </a:p>
                  </a:txBody>
                  <a:tcPr marT="18288" marB="18288"/>
                </a:tc>
                <a:tc>
                  <a:txBody>
                    <a:bodyPr/>
                    <a:lstStyle/>
                    <a:p>
                      <a:pPr>
                        <a:spcBef>
                          <a:spcPts val="0"/>
                        </a:spcBef>
                        <a:spcAft>
                          <a:spcPts val="0"/>
                        </a:spcAft>
                        <a:defRPr sz="1800" b="0"/>
                      </a:pPr>
                      <a:r>
                        <a:t>+0.040 to +0.058</a:t>
                      </a:r>
                    </a:p>
                  </a:txBody>
                  <a:tcPr marT="18288" marB="18288"/>
                </a:tc>
                <a:tc>
                  <a:txBody>
                    <a:bodyPr/>
                    <a:lstStyle/>
                    <a:p>
                      <a:pPr>
                        <a:spcBef>
                          <a:spcPts val="0"/>
                        </a:spcBef>
                        <a:spcAft>
                          <a:spcPts val="0"/>
                        </a:spcAft>
                        <a:defRPr sz="1800" b="0"/>
                      </a:pPr>
                      <a:r>
                        <a:t>stft, wpds only</a:t>
                      </a:r>
                    </a:p>
                  </a:txBody>
                  <a:tcPr marT="18288" marB="18288"/>
                </a:tc>
              </a:tr>
              <a:tr h="379827">
                <a:tc>
                  <a:txBody>
                    <a:bodyPr/>
                    <a:lstStyle/>
                    <a:p>
                      <a:pPr>
                        <a:spcBef>
                          <a:spcPts val="0"/>
                        </a:spcBef>
                        <a:spcAft>
                          <a:spcPts val="0"/>
                        </a:spcAft>
                        <a:defRPr sz="1800" b="0"/>
                      </a:pPr>
                      <a:r>
                        <a:t>S1</a:t>
                      </a:r>
                    </a:p>
                  </a:txBody>
                  <a:tcPr marT="18288" marB="18288"/>
                </a:tc>
                <a:tc>
                  <a:txBody>
                    <a:bodyPr/>
                    <a:lstStyle/>
                    <a:p>
                      <a:pPr>
                        <a:spcBef>
                          <a:spcPts val="0"/>
                        </a:spcBef>
                        <a:spcAft>
                          <a:spcPts val="0"/>
                        </a:spcAft>
                        <a:defRPr sz="1800" b="0"/>
                      </a:pPr>
                      <a:r>
                        <a:t>E4 − (W_stft + SC)</a:t>
                      </a:r>
                    </a:p>
                  </a:txBody>
                  <a:tcPr marT="18288" marB="18288"/>
                </a:tc>
                <a:tc>
                  <a:txBody>
                    <a:bodyPr/>
                    <a:lstStyle/>
                    <a:p>
                      <a:pPr>
                        <a:spcBef>
                          <a:spcPts val="0"/>
                        </a:spcBef>
                        <a:spcAft>
                          <a:spcPts val="0"/>
                        </a:spcAft>
                        <a:defRPr sz="1800" b="0"/>
                      </a:pPr>
                      <a:r>
                        <a:t>+0.026 to +0.043</a:t>
                      </a:r>
                    </a:p>
                  </a:txBody>
                  <a:tcPr marT="18288" marB="18288"/>
                </a:tc>
                <a:tc>
                  <a:txBody>
                    <a:bodyPr/>
                    <a:lstStyle/>
                    <a:p>
                      <a:pPr>
                        <a:spcBef>
                          <a:spcPts val="0"/>
                        </a:spcBef>
                        <a:spcAft>
                          <a:spcPts val="0"/>
                        </a:spcAft>
                        <a:defRPr sz="1800" b="0"/>
                      </a:pPr>
                      <a:r>
                        <a:t>possibly shortcut</a:t>
                      </a:r>
                    </a:p>
                  </a:txBody>
                  <a:tcPr marT="18288" marB="18288"/>
                </a:tc>
              </a:tr>
              <a:tr h="379827">
                <a:tc>
                  <a:txBody>
                    <a:bodyPr/>
                    <a:lstStyle/>
                    <a:p>
                      <a:pPr>
                        <a:spcBef>
                          <a:spcPts val="0"/>
                        </a:spcBef>
                        <a:spcAft>
                          <a:spcPts val="0"/>
                        </a:spcAft>
                        <a:defRPr sz="1800" b="0"/>
                      </a:pPr>
                      <a:r>
                        <a:t>H10a/b</a:t>
                      </a:r>
                    </a:p>
                  </a:txBody>
                  <a:tcPr marT="18288" marB="18288"/>
                </a:tc>
                <a:tc>
                  <a:txBody>
                    <a:bodyPr/>
                    <a:lstStyle/>
                    <a:p>
                      <a:pPr>
                        <a:spcBef>
                          <a:spcPts val="0"/>
                        </a:spcBef>
                        <a:spcAft>
                          <a:spcPts val="0"/>
                        </a:spcAft>
                        <a:defRPr sz="1800" b="0"/>
                      </a:pPr>
                      <a:r>
                        <a:t>ZCHSound AUROC / subtype order</a:t>
                      </a:r>
                    </a:p>
                  </a:txBody>
                  <a:tcPr marT="18288" marB="18288"/>
                </a:tc>
                <a:tc>
                  <a:txBody>
                    <a:bodyPr/>
                    <a:lstStyle/>
                    <a:p>
                      <a:pPr>
                        <a:spcBef>
                          <a:spcPts val="0"/>
                        </a:spcBef>
                        <a:spcAft>
                          <a:spcPts val="0"/>
                        </a:spcAft>
                        <a:defRPr sz="1800" b="0"/>
                      </a:pPr>
                      <a:r>
                        <a:t>0.709 / +0.263</a:t>
                      </a:r>
                    </a:p>
                  </a:txBody>
                  <a:tcPr marT="18288" marB="18288"/>
                </a:tc>
                <a:tc>
                  <a:txBody>
                    <a:bodyPr/>
                    <a:lstStyle/>
                    <a:p>
                      <a:pPr>
                        <a:spcBef>
                          <a:spcPts val="0"/>
                        </a:spcBef>
                        <a:spcAft>
                          <a:spcPts val="0"/>
                        </a:spcAft>
                        <a:defRPr sz="1800" b="0"/>
                      </a:pPr>
                      <a:r>
                        <a:t>supported</a:t>
                      </a:r>
                    </a:p>
                  </a:txBody>
                  <a:tcPr marT="18288" marB="18288"/>
                </a:tc>
              </a:tr>
              <a:tr h="379827">
                <a:tc>
                  <a:txBody>
                    <a:bodyPr/>
                    <a:lstStyle/>
                    <a:p>
                      <a:pPr>
                        <a:spcBef>
                          <a:spcPts val="0"/>
                        </a:spcBef>
                        <a:spcAft>
                          <a:spcPts val="0"/>
                        </a:spcAft>
                        <a:defRPr sz="1800" b="0"/>
                      </a:pPr>
                      <a:r>
                        <a:t>H11a–c</a:t>
                      </a:r>
                    </a:p>
                  </a:txBody>
                  <a:tcPr marT="18288" marB="18288"/>
                </a:tc>
                <a:tc>
                  <a:txBody>
                    <a:bodyPr/>
                    <a:lstStyle/>
                    <a:p>
                      <a:pPr>
                        <a:spcBef>
                          <a:spcPts val="0"/>
                        </a:spcBef>
                        <a:spcAft>
                          <a:spcPts val="0"/>
                        </a:spcAft>
                        <a:defRPr sz="1800" b="0"/>
                      </a:pPr>
                      <a:r>
                        <a:t>scattering − STFT</a:t>
                      </a:r>
                    </a:p>
                  </a:txBody>
                  <a:tcPr marT="18288" marB="18288"/>
                </a:tc>
                <a:tc>
                  <a:txBody>
                    <a:bodyPr/>
                    <a:lstStyle/>
                    <a:p>
                      <a:pPr>
                        <a:spcBef>
                          <a:spcPts val="0"/>
                        </a:spcBef>
                        <a:spcAft>
                          <a:spcPts val="0"/>
                        </a:spcAft>
                        <a:defRPr sz="1800" b="0"/>
                      </a:pPr>
                      <a:r>
                        <a:t>−0.026 to +0.013</a:t>
                      </a:r>
                    </a:p>
                  </a:txBody>
                  <a:tcPr marT="18288" marB="18288"/>
                </a:tc>
                <a:tc>
                  <a:txBody>
                    <a:bodyPr/>
                    <a:lstStyle/>
                    <a:p>
                      <a:pPr>
                        <a:spcBef>
                          <a:spcPts val="0"/>
                        </a:spcBef>
                        <a:spcAft>
                          <a:spcPts val="0"/>
                        </a:spcAft>
                        <a:defRPr sz="1800" b="0"/>
                      </a:pPr>
                      <a:r>
                        <a:t>not supported</a:t>
                      </a:r>
                    </a:p>
                  </a:txBody>
                  <a:tcPr marT="18288" marB="18288"/>
                </a:tc>
              </a:tr>
              <a:tr h="379827">
                <a:tc>
                  <a:txBody>
                    <a:bodyPr/>
                    <a:lstStyle/>
                    <a:p>
                      <a:pPr>
                        <a:spcBef>
                          <a:spcPts val="0"/>
                        </a:spcBef>
                        <a:spcAft>
                          <a:spcPts val="0"/>
                        </a:spcAft>
                        <a:defRPr sz="1800" b="0"/>
                      </a:pPr>
                      <a:r>
                        <a:t>H12a</a:t>
                      </a:r>
                    </a:p>
                  </a:txBody>
                  <a:tcPr marT="18288" marB="18288"/>
                </a:tc>
                <a:tc>
                  <a:txBody>
                    <a:bodyPr/>
                    <a:lstStyle/>
                    <a:p>
                      <a:pPr>
                        <a:spcBef>
                          <a:spcPts val="0"/>
                        </a:spcBef>
                        <a:spcAft>
                          <a:spcPts val="0"/>
                        </a:spcAft>
                        <a:defRPr sz="1800" b="0"/>
                      </a:pPr>
                      <a:r>
                        <a:t>E4q − (W_stft + SC_q)</a:t>
                      </a:r>
                    </a:p>
                  </a:txBody>
                  <a:tcPr marT="18288" marB="18288"/>
                </a:tc>
                <a:tc>
                  <a:txBody>
                    <a:bodyPr/>
                    <a:lstStyle/>
                    <a:p>
                      <a:pPr>
                        <a:spcBef>
                          <a:spcPts val="0"/>
                        </a:spcBef>
                        <a:spcAft>
                          <a:spcPts val="0"/>
                        </a:spcAft>
                        <a:defRPr sz="1800" b="0"/>
                      </a:pPr>
                      <a:r>
                        <a:t>+0.035 to +0.046</a:t>
                      </a:r>
                    </a:p>
                  </a:txBody>
                  <a:tcPr marT="18288" marB="18288"/>
                </a:tc>
                <a:tc>
                  <a:txBody>
                    <a:bodyPr/>
                    <a:lstStyle/>
                    <a:p>
                      <a:pPr>
                        <a:spcBef>
                          <a:spcPts val="0"/>
                        </a:spcBef>
                        <a:spcAft>
                          <a:spcPts val="0"/>
                        </a:spcAft>
                        <a:defRPr sz="1800" b="0"/>
                      </a:pPr>
                      <a:r>
                        <a:t>possibly shortcut</a:t>
                      </a:r>
                    </a:p>
                  </a:txBody>
                  <a:tcPr marT="18288" marB="18288"/>
                </a:tc>
              </a:tr>
              <a:tr h="379836">
                <a:tc>
                  <a:txBody>
                    <a:bodyPr/>
                    <a:lstStyle/>
                    <a:p>
                      <a:pPr>
                        <a:spcBef>
                          <a:spcPts val="0"/>
                        </a:spcBef>
                        <a:spcAft>
                          <a:spcPts val="0"/>
                        </a:spcAft>
                        <a:defRPr sz="1800" b="0"/>
                      </a:pPr>
                      <a:r>
                        <a:t>H12b</a:t>
                      </a:r>
                    </a:p>
                  </a:txBody>
                  <a:tcPr marT="18288" marB="18288"/>
                </a:tc>
                <a:tc>
                  <a:txBody>
                    <a:bodyPr/>
                    <a:lstStyle/>
                    <a:p>
                      <a:pPr>
                        <a:spcBef>
                          <a:spcPts val="0"/>
                        </a:spcBef>
                        <a:spcAft>
                          <a:spcPts val="0"/>
                        </a:spcAft>
                        <a:defRPr sz="1800" b="0"/>
                      </a:pPr>
                      <a:r>
                        <a:t>E4q − random windows</a:t>
                      </a:r>
                    </a:p>
                  </a:txBody>
                  <a:tcPr marT="18288" marB="18288"/>
                </a:tc>
                <a:tc>
                  <a:txBody>
                    <a:bodyPr/>
                    <a:lstStyle/>
                    <a:p>
                      <a:pPr>
                        <a:spcBef>
                          <a:spcPts val="0"/>
                        </a:spcBef>
                        <a:spcAft>
                          <a:spcPts val="0"/>
                        </a:spcAft>
                        <a:defRPr sz="1800" b="0"/>
                      </a:pPr>
                      <a:r>
                        <a:t>+0.066 to +0.071</a:t>
                      </a:r>
                    </a:p>
                  </a:txBody>
                  <a:tcPr marT="18288" marB="18288"/>
                </a:tc>
                <a:tc>
                  <a:txBody>
                    <a:bodyPr/>
                    <a:lstStyle/>
                    <a:p>
                      <a:pPr>
                        <a:spcBef>
                          <a:spcPts val="0"/>
                        </a:spcBef>
                        <a:spcAft>
                          <a:spcPts val="0"/>
                        </a:spcAft>
                        <a:defRPr sz="1800" b="0"/>
                      </a:pPr>
                      <a:r>
                        <a:t>supported</a:t>
                      </a:r>
                    </a:p>
                  </a:txBody>
                  <a:tcPr marT="18288" marB="18288"/>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